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062BC9-FAEF-4583-8540-7394D8AF71F7}" v="1" dt="2026-07-20T04:18:59.7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6"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P Yash" userId="ea0f637e71322973" providerId="LiveId" clId="{29081B37-C52E-4A0F-9FE3-0DA652246B1E}"/>
    <pc:docChg chg="modSld">
      <pc:chgData name="OP Yash" userId="ea0f637e71322973" providerId="LiveId" clId="{29081B37-C52E-4A0F-9FE3-0DA652246B1E}" dt="2026-07-20T04:18:50.882" v="0" actId="113"/>
      <pc:docMkLst>
        <pc:docMk/>
      </pc:docMkLst>
      <pc:sldChg chg="modSp mod">
        <pc:chgData name="OP Yash" userId="ea0f637e71322973" providerId="LiveId" clId="{29081B37-C52E-4A0F-9FE3-0DA652246B1E}" dt="2026-07-20T04:18:50.882" v="0" actId="113"/>
        <pc:sldMkLst>
          <pc:docMk/>
          <pc:sldMk cId="0" sldId="256"/>
        </pc:sldMkLst>
        <pc:spChg chg="mod">
          <ac:chgData name="OP Yash" userId="ea0f637e71322973" providerId="LiveId" clId="{29081B37-C52E-4A0F-9FE3-0DA652246B1E}" dt="2026-07-20T04:18:50.882" v="0" actId="113"/>
          <ac:spMkLst>
            <pc:docMk/>
            <pc:sldMk cId="0" sldId="256"/>
            <ac:spMk id="60" creationId="{32DF1C2D-7223-FE2F-3A4D-FF65B52B20D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7976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Good morning everyone. My name is (student name) and today I will present my mini project, ATM Banking System Using C Programming. This project was built as part of my college curriculum to practice core C programming concepts through a practical, menu-driven application. In the next few minutes I will explain the objectives, design, working, and what I learned while building this project.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project is a menu driven console application built in C. It lets a user login and perform operations like balance inquiry, deposit, withdraw, transfer, pin change and mini statement. All customer data is saved permanently in a binary file called bank dot dat. I built this because small practice programs usually teach only one concept at a time, so I wanted one project where multiple C concepts work together.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My main objective was to apply many C programming concepts in a single project. This includes learning modular programming using functions, understanding structures and arrays, and practicing binary file handling. Overall it helped me improve my programming logic and problem solving skills. The concepts I used are structures, functions, arrays, loops, switch case, conditional statements, and binary file handling, all working together around the ATM application.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slide shows the architecture and working flow together. On the left, the Bank Module creates customer accounts and stores them in bank dot dat. The ATM Module then reads this file for login and shows the ATM menu with six operations. Every operation updates bank dot dat again. On the right, the flowchart shows the same process step by step, starting with login, verifying the pin, showing the menu, performing the operation, updating data, and finally logging out.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These are the main features of my ATM Banking System, including secure login, balance inquiry, deposit, withdraw, transfer, pin change, mini statement, and permanent data storage. On the right are placeholders for actual program screenshots which I will show live during the demonstration, covering the login screen, main menu, and each transaction type running in the terminal.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project taught me how to write modular C programs using functions, how to use structures and arrays together, and how binary file handling works in practice. I also learned menu driven programming, debugging, testing, and overall logical thinking. Looking ahead, this project can be improved further by adding an admin login, transaction history, database integration, pin encryption, and eventually a GUI based version.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To conclude, this project helped me understand how multiple C programming concepts work together in a real application. It improved my understanding of structures, functions, file handling, and logical programming while I built this simple ATM Banking System. Thank you all for listening, and I am happy to answer any questions you may have.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9.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24A"/>
        </a:solidFill>
        <a:effectLst/>
      </p:bgPr>
    </p:bg>
    <p:spTree>
      <p:nvGrpSpPr>
        <p:cNvPr id="1" name=""/>
        <p:cNvGrpSpPr/>
        <p:nvPr/>
      </p:nvGrpSpPr>
      <p:grpSpPr>
        <a:xfrm>
          <a:off x="0" y="0"/>
          <a:ext cx="0" cy="0"/>
          <a:chOff x="0" y="0"/>
          <a:chExt cx="0" cy="0"/>
        </a:xfrm>
      </p:grpSpPr>
      <p:sp>
        <p:nvSpPr>
          <p:cNvPr id="40" name="Shape 0">
            <a:extLst>
              <a:ext uri="{FF2B5EF4-FFF2-40B4-BE49-F238E27FC236}">
                <a16:creationId xmlns:a16="http://schemas.microsoft.com/office/drawing/2014/main" id="{F2806AC9-537E-F942-C373-0A7E0F2CD060}"/>
              </a:ext>
            </a:extLst>
          </p:cNvPr>
          <p:cNvSpPr/>
          <p:nvPr/>
        </p:nvSpPr>
        <p:spPr>
          <a:xfrm>
            <a:off x="9692640" y="-1280160"/>
            <a:ext cx="4114800" cy="4114800"/>
          </a:xfrm>
          <a:prstGeom prst="ellipse">
            <a:avLst/>
          </a:prstGeom>
          <a:solidFill>
            <a:srgbClr val="2E6E9E">
              <a:alpha val="30000"/>
            </a:srgbClr>
          </a:solidFill>
          <a:ln/>
        </p:spPr>
        <p:txBody>
          <a:bodyPr/>
          <a:lstStyle/>
          <a:p>
            <a:endParaRPr lang="en-IN"/>
          </a:p>
        </p:txBody>
      </p:sp>
      <p:sp>
        <p:nvSpPr>
          <p:cNvPr id="42" name="Shape 1">
            <a:extLst>
              <a:ext uri="{FF2B5EF4-FFF2-40B4-BE49-F238E27FC236}">
                <a16:creationId xmlns:a16="http://schemas.microsoft.com/office/drawing/2014/main" id="{0EE91509-8B6F-F398-E45C-FDFDA2B13B0F}"/>
              </a:ext>
            </a:extLst>
          </p:cNvPr>
          <p:cNvSpPr/>
          <p:nvPr/>
        </p:nvSpPr>
        <p:spPr>
          <a:xfrm>
            <a:off x="10607040" y="4389120"/>
            <a:ext cx="2926080" cy="2926080"/>
          </a:xfrm>
          <a:prstGeom prst="ellipse">
            <a:avLst/>
          </a:prstGeom>
          <a:solidFill>
            <a:srgbClr val="4FA3D1">
              <a:alpha val="25000"/>
            </a:srgbClr>
          </a:solidFill>
          <a:ln/>
        </p:spPr>
        <p:txBody>
          <a:bodyPr/>
          <a:lstStyle/>
          <a:p>
            <a:endParaRPr lang="en-IN"/>
          </a:p>
        </p:txBody>
      </p:sp>
      <p:sp>
        <p:nvSpPr>
          <p:cNvPr id="44" name="Shape 2">
            <a:extLst>
              <a:ext uri="{FF2B5EF4-FFF2-40B4-BE49-F238E27FC236}">
                <a16:creationId xmlns:a16="http://schemas.microsoft.com/office/drawing/2014/main" id="{037B3452-B12E-3FDA-16AC-E0709825A7BF}"/>
              </a:ext>
            </a:extLst>
          </p:cNvPr>
          <p:cNvSpPr/>
          <p:nvPr/>
        </p:nvSpPr>
        <p:spPr>
          <a:xfrm>
            <a:off x="822960" y="914400"/>
            <a:ext cx="1188720" cy="1188720"/>
          </a:xfrm>
          <a:prstGeom prst="ellipse">
            <a:avLst/>
          </a:prstGeom>
          <a:solidFill>
            <a:srgbClr val="2E6E9E"/>
          </a:solidFill>
          <a:ln/>
        </p:spPr>
        <p:txBody>
          <a:bodyPr/>
          <a:lstStyle/>
          <a:p>
            <a:endParaRPr lang="en-IN"/>
          </a:p>
        </p:txBody>
      </p:sp>
      <p:pic>
        <p:nvPicPr>
          <p:cNvPr id="46" name="Image 0" descr="preencoded.png">
            <a:extLst>
              <a:ext uri="{FF2B5EF4-FFF2-40B4-BE49-F238E27FC236}">
                <a16:creationId xmlns:a16="http://schemas.microsoft.com/office/drawing/2014/main" id="{C105F971-E729-2E7B-1D79-7AE328721460}"/>
              </a:ext>
            </a:extLst>
          </p:cNvPr>
          <p:cNvPicPr>
            <a:picLocks noChangeAspect="1"/>
          </p:cNvPicPr>
          <p:nvPr/>
        </p:nvPicPr>
        <p:blipFill>
          <a:blip r:embed="rId3"/>
          <a:stretch>
            <a:fillRect/>
          </a:stretch>
        </p:blipFill>
        <p:spPr>
          <a:xfrm>
            <a:off x="1090422" y="1181862"/>
            <a:ext cx="653796" cy="653796"/>
          </a:xfrm>
          <a:prstGeom prst="rect">
            <a:avLst/>
          </a:prstGeom>
        </p:spPr>
      </p:pic>
      <p:sp>
        <p:nvSpPr>
          <p:cNvPr id="48" name="Text 3">
            <a:extLst>
              <a:ext uri="{FF2B5EF4-FFF2-40B4-BE49-F238E27FC236}">
                <a16:creationId xmlns:a16="http://schemas.microsoft.com/office/drawing/2014/main" id="{CDD62A0C-267E-706A-5344-80C1511F98D8}"/>
              </a:ext>
            </a:extLst>
          </p:cNvPr>
          <p:cNvSpPr/>
          <p:nvPr/>
        </p:nvSpPr>
        <p:spPr>
          <a:xfrm>
            <a:off x="822960" y="2377440"/>
            <a:ext cx="8686800" cy="91440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ATM BANKING SYSTEM</a:t>
            </a:r>
            <a:endParaRPr lang="en-US" sz="4400" dirty="0"/>
          </a:p>
        </p:txBody>
      </p:sp>
      <p:sp>
        <p:nvSpPr>
          <p:cNvPr id="50" name="Text 4">
            <a:extLst>
              <a:ext uri="{FF2B5EF4-FFF2-40B4-BE49-F238E27FC236}">
                <a16:creationId xmlns:a16="http://schemas.microsoft.com/office/drawing/2014/main" id="{B140FBDB-E7F5-B4A7-836D-120464327580}"/>
              </a:ext>
            </a:extLst>
          </p:cNvPr>
          <p:cNvSpPr/>
          <p:nvPr/>
        </p:nvSpPr>
        <p:spPr>
          <a:xfrm>
            <a:off x="822960" y="3154680"/>
            <a:ext cx="8686800" cy="548640"/>
          </a:xfrm>
          <a:prstGeom prst="rect">
            <a:avLst/>
          </a:prstGeom>
          <a:noFill/>
          <a:ln/>
        </p:spPr>
        <p:txBody>
          <a:bodyPr wrap="square" rtlCol="0" anchor="ctr"/>
          <a:lstStyle/>
          <a:p>
            <a:pPr marL="0" indent="0">
              <a:buNone/>
            </a:pPr>
            <a:r>
              <a:rPr lang="en-US" sz="2200" dirty="0">
                <a:solidFill>
                  <a:srgbClr val="4FA3D1"/>
                </a:solidFill>
                <a:latin typeface="Calibri" pitchFamily="34" charset="0"/>
                <a:ea typeface="Calibri" pitchFamily="34" charset="-122"/>
                <a:cs typeface="Calibri" pitchFamily="34" charset="-120"/>
              </a:rPr>
              <a:t>Using C Programming</a:t>
            </a:r>
            <a:endParaRPr lang="en-US" sz="2200" dirty="0"/>
          </a:p>
        </p:txBody>
      </p:sp>
      <p:sp>
        <p:nvSpPr>
          <p:cNvPr id="52" name="Shape 5">
            <a:extLst>
              <a:ext uri="{FF2B5EF4-FFF2-40B4-BE49-F238E27FC236}">
                <a16:creationId xmlns:a16="http://schemas.microsoft.com/office/drawing/2014/main" id="{595AFA9F-2F93-DC58-3867-1E34595E0015}"/>
              </a:ext>
            </a:extLst>
          </p:cNvPr>
          <p:cNvSpPr/>
          <p:nvPr/>
        </p:nvSpPr>
        <p:spPr>
          <a:xfrm>
            <a:off x="841248" y="3840480"/>
            <a:ext cx="1463040" cy="384048"/>
          </a:xfrm>
          <a:prstGeom prst="rect">
            <a:avLst/>
          </a:prstGeom>
          <a:solidFill>
            <a:srgbClr val="2E6E9E"/>
          </a:solidFill>
          <a:ln/>
        </p:spPr>
        <p:txBody>
          <a:bodyPr/>
          <a:lstStyle/>
          <a:p>
            <a:endParaRPr lang="en-IN"/>
          </a:p>
        </p:txBody>
      </p:sp>
      <p:sp>
        <p:nvSpPr>
          <p:cNvPr id="54" name="Text 6">
            <a:extLst>
              <a:ext uri="{FF2B5EF4-FFF2-40B4-BE49-F238E27FC236}">
                <a16:creationId xmlns:a16="http://schemas.microsoft.com/office/drawing/2014/main" id="{C68B01A9-3246-23F8-9127-11605BACCA9F}"/>
              </a:ext>
            </a:extLst>
          </p:cNvPr>
          <p:cNvSpPr/>
          <p:nvPr/>
        </p:nvSpPr>
        <p:spPr>
          <a:xfrm>
            <a:off x="841248" y="3840480"/>
            <a:ext cx="146304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MINI PROJECT</a:t>
            </a:r>
            <a:endParaRPr lang="en-US" sz="1300" dirty="0"/>
          </a:p>
        </p:txBody>
      </p:sp>
      <p:sp>
        <p:nvSpPr>
          <p:cNvPr id="56" name="Text 7">
            <a:extLst>
              <a:ext uri="{FF2B5EF4-FFF2-40B4-BE49-F238E27FC236}">
                <a16:creationId xmlns:a16="http://schemas.microsoft.com/office/drawing/2014/main" id="{35F45025-E310-7C22-1C9E-802094CD2F0D}"/>
              </a:ext>
            </a:extLst>
          </p:cNvPr>
          <p:cNvSpPr/>
          <p:nvPr/>
        </p:nvSpPr>
        <p:spPr>
          <a:xfrm>
            <a:off x="841248" y="4617720"/>
            <a:ext cx="7315200" cy="292608"/>
          </a:xfrm>
          <a:prstGeom prst="rect">
            <a:avLst/>
          </a:prstGeom>
          <a:noFill/>
          <a:ln/>
        </p:spPr>
        <p:txBody>
          <a:bodyPr wrap="square" rtlCol="0" anchor="ctr"/>
          <a:lstStyle/>
          <a:p>
            <a:pPr marL="0" indent="0">
              <a:buNone/>
            </a:pPr>
            <a:r>
              <a:rPr lang="en-US" sz="1300" b="1" dirty="0">
                <a:solidFill>
                  <a:srgbClr val="4FA3D1"/>
                </a:solidFill>
                <a:latin typeface="Calibri" pitchFamily="34" charset="0"/>
                <a:ea typeface="Calibri" pitchFamily="34" charset="-122"/>
                <a:cs typeface="Calibri" pitchFamily="34" charset="-120"/>
              </a:rPr>
              <a:t>Presented By : </a:t>
            </a:r>
            <a:r>
              <a:rPr lang="en-US" sz="1300" b="1" dirty="0">
                <a:solidFill>
                  <a:srgbClr val="FFFFFF"/>
                </a:solidFill>
                <a:latin typeface="Calibri" pitchFamily="34" charset="0"/>
                <a:ea typeface="Calibri" pitchFamily="34" charset="-122"/>
                <a:cs typeface="Calibri" pitchFamily="34" charset="-120"/>
              </a:rPr>
              <a:t>Harpal Singh Lodhi</a:t>
            </a:r>
            <a:endParaRPr lang="en-US" sz="1300" dirty="0"/>
          </a:p>
        </p:txBody>
      </p:sp>
      <p:sp>
        <p:nvSpPr>
          <p:cNvPr id="58" name="Text 8">
            <a:extLst>
              <a:ext uri="{FF2B5EF4-FFF2-40B4-BE49-F238E27FC236}">
                <a16:creationId xmlns:a16="http://schemas.microsoft.com/office/drawing/2014/main" id="{83C5963A-56AA-D50A-9CF1-75E36F5B2F7B}"/>
              </a:ext>
            </a:extLst>
          </p:cNvPr>
          <p:cNvSpPr/>
          <p:nvPr/>
        </p:nvSpPr>
        <p:spPr>
          <a:xfrm>
            <a:off x="841248" y="4946904"/>
            <a:ext cx="7315200" cy="292608"/>
          </a:xfrm>
          <a:prstGeom prst="rect">
            <a:avLst/>
          </a:prstGeom>
          <a:noFill/>
          <a:ln/>
        </p:spPr>
        <p:txBody>
          <a:bodyPr wrap="square" rtlCol="0" anchor="ctr"/>
          <a:lstStyle/>
          <a:p>
            <a:pPr marL="0" indent="0">
              <a:buNone/>
            </a:pPr>
            <a:r>
              <a:rPr lang="en-US" sz="1300" b="1" dirty="0">
                <a:solidFill>
                  <a:srgbClr val="4FA3D1"/>
                </a:solidFill>
                <a:latin typeface="Calibri" pitchFamily="34" charset="0"/>
                <a:ea typeface="Calibri" pitchFamily="34" charset="-122"/>
                <a:cs typeface="Calibri" pitchFamily="34" charset="-120"/>
              </a:rPr>
              <a:t>Roll Number : </a:t>
            </a:r>
            <a:r>
              <a:rPr lang="en-US" sz="1300" b="1" dirty="0">
                <a:solidFill>
                  <a:srgbClr val="FFFFFF"/>
                </a:solidFill>
                <a:latin typeface="Calibri" pitchFamily="34" charset="0"/>
                <a:ea typeface="Calibri" pitchFamily="34" charset="-122"/>
                <a:cs typeface="Calibri" pitchFamily="34" charset="-120"/>
              </a:rPr>
              <a:t>2308100100049</a:t>
            </a:r>
            <a:endParaRPr lang="en-US" sz="1300" dirty="0"/>
          </a:p>
        </p:txBody>
      </p:sp>
      <p:sp>
        <p:nvSpPr>
          <p:cNvPr id="60" name="Text 9">
            <a:extLst>
              <a:ext uri="{FF2B5EF4-FFF2-40B4-BE49-F238E27FC236}">
                <a16:creationId xmlns:a16="http://schemas.microsoft.com/office/drawing/2014/main" id="{32DF1C2D-7223-FE2F-3A4D-FF65B52B20D1}"/>
              </a:ext>
            </a:extLst>
          </p:cNvPr>
          <p:cNvSpPr/>
          <p:nvPr/>
        </p:nvSpPr>
        <p:spPr>
          <a:xfrm>
            <a:off x="841248" y="5276088"/>
            <a:ext cx="7315200" cy="292608"/>
          </a:xfrm>
          <a:prstGeom prst="rect">
            <a:avLst/>
          </a:prstGeom>
          <a:noFill/>
          <a:ln/>
        </p:spPr>
        <p:txBody>
          <a:bodyPr wrap="square" rtlCol="0" anchor="ctr"/>
          <a:lstStyle/>
          <a:p>
            <a:pPr marL="0" indent="0">
              <a:buNone/>
            </a:pPr>
            <a:r>
              <a:rPr lang="en-US" sz="1300" b="1" dirty="0">
                <a:solidFill>
                  <a:srgbClr val="4FA3D1"/>
                </a:solidFill>
                <a:latin typeface="Calibri" pitchFamily="34" charset="0"/>
                <a:ea typeface="Calibri" pitchFamily="34" charset="-122"/>
                <a:cs typeface="Calibri" pitchFamily="34" charset="-120"/>
              </a:rPr>
              <a:t>Department : </a:t>
            </a:r>
            <a:r>
              <a:rPr lang="en-US" sz="1300" b="1" dirty="0">
                <a:solidFill>
                  <a:srgbClr val="FFFFFF"/>
                </a:solidFill>
                <a:latin typeface="Calibri" pitchFamily="34" charset="0"/>
                <a:ea typeface="Calibri" pitchFamily="34" charset="-122"/>
                <a:cs typeface="Calibri" pitchFamily="34" charset="-120"/>
              </a:rPr>
              <a:t>B.Tech Computer Science &amp; Engineering</a:t>
            </a:r>
            <a:endParaRPr lang="en-US" sz="1300" b="1" dirty="0"/>
          </a:p>
        </p:txBody>
      </p:sp>
      <p:sp>
        <p:nvSpPr>
          <p:cNvPr id="62" name="Text 10">
            <a:extLst>
              <a:ext uri="{FF2B5EF4-FFF2-40B4-BE49-F238E27FC236}">
                <a16:creationId xmlns:a16="http://schemas.microsoft.com/office/drawing/2014/main" id="{008A856F-7F3A-250D-8B8B-50ECE75023CB}"/>
              </a:ext>
            </a:extLst>
          </p:cNvPr>
          <p:cNvSpPr/>
          <p:nvPr/>
        </p:nvSpPr>
        <p:spPr>
          <a:xfrm>
            <a:off x="841248" y="5605272"/>
            <a:ext cx="7315200" cy="292608"/>
          </a:xfrm>
          <a:prstGeom prst="rect">
            <a:avLst/>
          </a:prstGeom>
          <a:noFill/>
          <a:ln/>
        </p:spPr>
        <p:txBody>
          <a:bodyPr wrap="square" rtlCol="0" anchor="ctr"/>
          <a:lstStyle/>
          <a:p>
            <a:pPr marL="0" indent="0">
              <a:buNone/>
            </a:pPr>
            <a:r>
              <a:rPr lang="en-US" sz="1300" b="1" dirty="0">
                <a:solidFill>
                  <a:srgbClr val="4FA3D1"/>
                </a:solidFill>
                <a:latin typeface="Calibri" pitchFamily="34" charset="0"/>
                <a:ea typeface="Calibri" pitchFamily="34" charset="-122"/>
                <a:cs typeface="Calibri" pitchFamily="34" charset="-120"/>
              </a:rPr>
              <a:t>College : </a:t>
            </a:r>
            <a:r>
              <a:rPr lang="en-US" sz="1300" b="1" dirty="0">
                <a:solidFill>
                  <a:srgbClr val="FFFFFF"/>
                </a:solidFill>
                <a:latin typeface="Calibri" pitchFamily="34" charset="0"/>
                <a:ea typeface="Calibri" pitchFamily="34" charset="-122"/>
                <a:cs typeface="Calibri" pitchFamily="34" charset="-120"/>
              </a:rPr>
              <a:t>Greater Noida College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16324A"/>
                </a:solidFill>
                <a:latin typeface="Cambria" pitchFamily="34" charset="0"/>
                <a:ea typeface="Cambria" pitchFamily="34" charset="-122"/>
                <a:cs typeface="Cambria" pitchFamily="34" charset="-120"/>
              </a:rPr>
              <a:t>Introduction</a:t>
            </a:r>
            <a:endParaRPr lang="en-US" sz="3000" dirty="0"/>
          </a:p>
        </p:txBody>
      </p:sp>
      <p:sp>
        <p:nvSpPr>
          <p:cNvPr id="3" name="Shape 1"/>
          <p:cNvSpPr/>
          <p:nvPr/>
        </p:nvSpPr>
        <p:spPr>
          <a:xfrm>
            <a:off x="548640" y="1244065"/>
            <a:ext cx="6126480" cy="4480560"/>
          </a:xfrm>
          <a:prstGeom prst="rect">
            <a:avLst/>
          </a:prstGeom>
          <a:solidFill>
            <a:srgbClr val="F4F7FA"/>
          </a:solidFill>
          <a:ln/>
        </p:spPr>
        <p:txBody>
          <a:bodyPr/>
          <a:lstStyle/>
          <a:p>
            <a:endParaRPr lang="en-IN"/>
          </a:p>
        </p:txBody>
      </p:sp>
      <p:sp>
        <p:nvSpPr>
          <p:cNvPr id="4" name="Text 2"/>
          <p:cNvSpPr/>
          <p:nvPr/>
        </p:nvSpPr>
        <p:spPr>
          <a:xfrm>
            <a:off x="822960" y="1417320"/>
            <a:ext cx="5577840" cy="365760"/>
          </a:xfrm>
          <a:prstGeom prst="rect">
            <a:avLst/>
          </a:prstGeom>
          <a:noFill/>
          <a:ln/>
        </p:spPr>
        <p:txBody>
          <a:bodyPr wrap="square" rtlCol="0" anchor="ctr"/>
          <a:lstStyle/>
          <a:p>
            <a:pPr marL="0" indent="0">
              <a:buNone/>
            </a:pPr>
            <a:r>
              <a:rPr lang="en-US" sz="1700" b="1" dirty="0">
                <a:solidFill>
                  <a:srgbClr val="16324A"/>
                </a:solidFill>
                <a:latin typeface="Cambria" pitchFamily="34" charset="0"/>
                <a:ea typeface="Cambria" pitchFamily="34" charset="-122"/>
                <a:cs typeface="Cambria" pitchFamily="34" charset="-120"/>
              </a:rPr>
              <a:t>About the Project</a:t>
            </a:r>
            <a:endParaRPr lang="en-US" sz="1700" dirty="0"/>
          </a:p>
        </p:txBody>
      </p:sp>
      <p:sp>
        <p:nvSpPr>
          <p:cNvPr id="5" name="Text 3"/>
          <p:cNvSpPr/>
          <p:nvPr/>
        </p:nvSpPr>
        <p:spPr>
          <a:xfrm>
            <a:off x="822960" y="1828800"/>
            <a:ext cx="5577840" cy="1920240"/>
          </a:xfrm>
          <a:prstGeom prst="rect">
            <a:avLst/>
          </a:prstGeom>
          <a:noFill/>
          <a:ln/>
        </p:spPr>
        <p:txBody>
          <a:bodyPr wrap="square" rtlCol="0" anchor="t"/>
          <a:lstStyle/>
          <a:p>
            <a:pPr marL="228600" indent="-228600">
              <a:spcAft>
                <a:spcPts val="1000"/>
              </a:spcAft>
              <a:buSzPct val="100000"/>
              <a:buChar char="●"/>
            </a:pPr>
            <a:r>
              <a:rPr lang="en-US" sz="1400" dirty="0">
                <a:solidFill>
                  <a:srgbClr val="2B3238"/>
                </a:solidFill>
                <a:latin typeface="Calibri" pitchFamily="34" charset="0"/>
                <a:ea typeface="Calibri" pitchFamily="34" charset="-122"/>
                <a:cs typeface="Calibri" pitchFamily="34" charset="-120"/>
              </a:rPr>
              <a:t>Menu-driven console application developed in C</a:t>
            </a:r>
            <a:endParaRPr lang="en-US" sz="1400" dirty="0"/>
          </a:p>
          <a:p>
            <a:pPr marL="228600" indent="-228600">
              <a:spcAft>
                <a:spcPts val="1000"/>
              </a:spcAft>
              <a:buSzPct val="100000"/>
              <a:buChar char="●"/>
            </a:pPr>
            <a:r>
              <a:rPr lang="en-US" sz="1400" dirty="0">
                <a:solidFill>
                  <a:srgbClr val="2B3238"/>
                </a:solidFill>
                <a:latin typeface="Calibri" pitchFamily="34" charset="0"/>
                <a:ea typeface="Calibri" pitchFamily="34" charset="-122"/>
                <a:cs typeface="Calibri" pitchFamily="34" charset="-120"/>
              </a:rPr>
              <a:t>Performs login, balance inquiry, deposit, withdrawal, transfer, PIN change, and mini statement</a:t>
            </a:r>
            <a:endParaRPr lang="en-US" sz="1400" dirty="0"/>
          </a:p>
          <a:p>
            <a:pPr marL="228600" indent="-228600">
              <a:spcAft>
                <a:spcPts val="1000"/>
              </a:spcAft>
              <a:buSzPct val="100000"/>
              <a:buChar char="●"/>
            </a:pPr>
            <a:r>
              <a:rPr lang="en-US" sz="1400" dirty="0">
                <a:solidFill>
                  <a:srgbClr val="2B3238"/>
                </a:solidFill>
                <a:latin typeface="Calibri" pitchFamily="34" charset="0"/>
                <a:ea typeface="Calibri" pitchFamily="34" charset="-122"/>
                <a:cs typeface="Calibri" pitchFamily="34" charset="-120"/>
              </a:rPr>
              <a:t>Customer data stored permanently in a binary file (bank.dat)</a:t>
            </a:r>
            <a:endParaRPr lang="en-US" sz="1400" dirty="0"/>
          </a:p>
        </p:txBody>
      </p:sp>
      <p:sp>
        <p:nvSpPr>
          <p:cNvPr id="6" name="Shape 4"/>
          <p:cNvSpPr/>
          <p:nvPr/>
        </p:nvSpPr>
        <p:spPr>
          <a:xfrm>
            <a:off x="822960" y="3794760"/>
            <a:ext cx="5577840" cy="0"/>
          </a:xfrm>
          <a:prstGeom prst="line">
            <a:avLst/>
          </a:prstGeom>
          <a:noFill/>
          <a:ln w="12700">
            <a:solidFill>
              <a:srgbClr val="E7ECF0"/>
            </a:solidFill>
            <a:prstDash val="solid"/>
          </a:ln>
        </p:spPr>
        <p:txBody>
          <a:bodyPr/>
          <a:lstStyle/>
          <a:p>
            <a:endParaRPr lang="en-IN"/>
          </a:p>
        </p:txBody>
      </p:sp>
      <p:sp>
        <p:nvSpPr>
          <p:cNvPr id="7" name="Text 5"/>
          <p:cNvSpPr/>
          <p:nvPr/>
        </p:nvSpPr>
        <p:spPr>
          <a:xfrm>
            <a:off x="822960" y="3931920"/>
            <a:ext cx="5577840" cy="365760"/>
          </a:xfrm>
          <a:prstGeom prst="rect">
            <a:avLst/>
          </a:prstGeom>
          <a:noFill/>
          <a:ln/>
        </p:spPr>
        <p:txBody>
          <a:bodyPr wrap="square" rtlCol="0" anchor="ctr"/>
          <a:lstStyle/>
          <a:p>
            <a:pPr marL="0" indent="0">
              <a:buNone/>
            </a:pPr>
            <a:r>
              <a:rPr lang="en-US" sz="1700" b="1" dirty="0">
                <a:solidFill>
                  <a:srgbClr val="16324A"/>
                </a:solidFill>
                <a:latin typeface="Cambria" pitchFamily="34" charset="0"/>
                <a:ea typeface="Cambria" pitchFamily="34" charset="-122"/>
                <a:cs typeface="Cambria" pitchFamily="34" charset="-120"/>
              </a:rPr>
              <a:t>Problem Statement</a:t>
            </a:r>
            <a:endParaRPr lang="en-US" sz="1700" dirty="0"/>
          </a:p>
        </p:txBody>
      </p:sp>
      <p:sp>
        <p:nvSpPr>
          <p:cNvPr id="8" name="Text 6"/>
          <p:cNvSpPr/>
          <p:nvPr/>
        </p:nvSpPr>
        <p:spPr>
          <a:xfrm>
            <a:off x="822960" y="4343400"/>
            <a:ext cx="5577840" cy="1234440"/>
          </a:xfrm>
          <a:prstGeom prst="rect">
            <a:avLst/>
          </a:prstGeom>
          <a:noFill/>
          <a:ln/>
        </p:spPr>
        <p:txBody>
          <a:bodyPr wrap="square" rtlCol="0" anchor="t"/>
          <a:lstStyle/>
          <a:p>
            <a:pPr marL="0" indent="0">
              <a:lnSpc>
                <a:spcPct val="120000"/>
              </a:lnSpc>
              <a:buNone/>
            </a:pPr>
            <a:r>
              <a:rPr lang="en-US" sz="1300" dirty="0">
                <a:solidFill>
                  <a:srgbClr val="2B3238"/>
                </a:solidFill>
                <a:latin typeface="Calibri" pitchFamily="34" charset="0"/>
                <a:ea typeface="Calibri" pitchFamily="34" charset="-122"/>
                <a:cs typeface="Calibri" pitchFamily="34" charset="-120"/>
              </a:rPr>
              <a:t>Small C programs usually explain only one concept at a time. This project combines multiple concepts into one practical application, showing how they work together to build a complete program.</a:t>
            </a:r>
            <a:endParaRPr lang="en-US" sz="1300" dirty="0"/>
          </a:p>
        </p:txBody>
      </p:sp>
      <p:sp>
        <p:nvSpPr>
          <p:cNvPr id="13" name="Text 11"/>
          <p:cNvSpPr/>
          <p:nvPr/>
        </p:nvSpPr>
        <p:spPr>
          <a:xfrm>
            <a:off x="8183880" y="3794760"/>
            <a:ext cx="30175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ATM Banking</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System</a:t>
            </a:r>
            <a:endParaRPr lang="en-US" sz="1400" dirty="0"/>
          </a:p>
        </p:txBody>
      </p:sp>
      <p:sp>
        <p:nvSpPr>
          <p:cNvPr id="14" name="Text 12"/>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7C8A94"/>
                </a:solidFill>
                <a:latin typeface="Calibri" pitchFamily="34" charset="0"/>
                <a:ea typeface="Calibri" pitchFamily="34" charset="-122"/>
                <a:cs typeface="Calibri" pitchFamily="34" charset="-120"/>
              </a:rPr>
              <a:t>ATM Banking System — C Programming Mini Project</a:t>
            </a:r>
            <a:endParaRPr lang="en-US" sz="900" dirty="0"/>
          </a:p>
        </p:txBody>
      </p:sp>
      <p:sp>
        <p:nvSpPr>
          <p:cNvPr id="15" name="Text 13"/>
          <p:cNvSpPr/>
          <p:nvPr/>
        </p:nvSpPr>
        <p:spPr>
          <a:xfrm>
            <a:off x="11274552" y="6510528"/>
            <a:ext cx="457200" cy="274320"/>
          </a:xfrm>
          <a:prstGeom prst="rect">
            <a:avLst/>
          </a:prstGeom>
          <a:noFill/>
          <a:ln/>
        </p:spPr>
        <p:txBody>
          <a:bodyPr wrap="square" rtlCol="0" anchor="ctr"/>
          <a:lstStyle/>
          <a:p>
            <a:pPr marL="0" indent="0" algn="r">
              <a:buNone/>
            </a:pPr>
            <a:r>
              <a:rPr lang="en-US" sz="900" dirty="0">
                <a:solidFill>
                  <a:srgbClr val="7C8A94"/>
                </a:solidFill>
                <a:latin typeface="Calibri" pitchFamily="34" charset="0"/>
                <a:ea typeface="Calibri" pitchFamily="34" charset="-122"/>
                <a:cs typeface="Calibri" pitchFamily="34" charset="-120"/>
              </a:rPr>
              <a:t>2</a:t>
            </a:r>
            <a:endParaRPr lang="en-US" sz="900" dirty="0"/>
          </a:p>
        </p:txBody>
      </p:sp>
      <p:grpSp>
        <p:nvGrpSpPr>
          <p:cNvPr id="16" name="Group 15">
            <a:extLst>
              <a:ext uri="{FF2B5EF4-FFF2-40B4-BE49-F238E27FC236}">
                <a16:creationId xmlns:a16="http://schemas.microsoft.com/office/drawing/2014/main" id="{8DF4F880-E996-9CC6-BD15-584B150820EA}"/>
              </a:ext>
            </a:extLst>
          </p:cNvPr>
          <p:cNvGrpSpPr/>
          <p:nvPr/>
        </p:nvGrpSpPr>
        <p:grpSpPr>
          <a:xfrm>
            <a:off x="7315200" y="1234440"/>
            <a:ext cx="4343400" cy="4480560"/>
            <a:chOff x="7315200" y="1234440"/>
            <a:chExt cx="4343400" cy="4480560"/>
          </a:xfrm>
        </p:grpSpPr>
        <p:sp>
          <p:nvSpPr>
            <p:cNvPr id="17" name="Shape 11">
              <a:extLst>
                <a:ext uri="{FF2B5EF4-FFF2-40B4-BE49-F238E27FC236}">
                  <a16:creationId xmlns:a16="http://schemas.microsoft.com/office/drawing/2014/main" id="{A5ACFAB2-A7B0-4E5C-69AA-1B279468425A}"/>
                </a:ext>
              </a:extLst>
            </p:cNvPr>
            <p:cNvSpPr/>
            <p:nvPr/>
          </p:nvSpPr>
          <p:spPr>
            <a:xfrm>
              <a:off x="7315200" y="1234440"/>
              <a:ext cx="4343400" cy="4480560"/>
            </a:xfrm>
            <a:prstGeom prst="rect">
              <a:avLst/>
            </a:prstGeom>
            <a:solidFill>
              <a:srgbClr val="16324A"/>
            </a:solidFill>
            <a:ln/>
          </p:spPr>
          <p:txBody>
            <a:bodyPr/>
            <a:lstStyle/>
            <a:p>
              <a:endParaRPr lang="en-IN"/>
            </a:p>
          </p:txBody>
        </p:sp>
        <p:sp>
          <p:nvSpPr>
            <p:cNvPr id="18" name="Shape 12">
              <a:extLst>
                <a:ext uri="{FF2B5EF4-FFF2-40B4-BE49-F238E27FC236}">
                  <a16:creationId xmlns:a16="http://schemas.microsoft.com/office/drawing/2014/main" id="{9FE5E957-1944-80DD-9580-F918BA9D1C18}"/>
                </a:ext>
              </a:extLst>
            </p:cNvPr>
            <p:cNvSpPr/>
            <p:nvPr/>
          </p:nvSpPr>
          <p:spPr>
            <a:xfrm>
              <a:off x="8823960" y="2011680"/>
              <a:ext cx="1371600" cy="1371600"/>
            </a:xfrm>
            <a:prstGeom prst="ellipse">
              <a:avLst/>
            </a:prstGeom>
            <a:solidFill>
              <a:srgbClr val="2E6E9E"/>
            </a:solidFill>
            <a:ln/>
          </p:spPr>
          <p:txBody>
            <a:bodyPr/>
            <a:lstStyle/>
            <a:p>
              <a:endParaRPr lang="en-IN"/>
            </a:p>
          </p:txBody>
        </p:sp>
        <p:pic>
          <p:nvPicPr>
            <p:cNvPr id="19" name="Image 4" descr="preencoded.png">
              <a:extLst>
                <a:ext uri="{FF2B5EF4-FFF2-40B4-BE49-F238E27FC236}">
                  <a16:creationId xmlns:a16="http://schemas.microsoft.com/office/drawing/2014/main" id="{9A156D88-B5B5-AE3D-2D3E-2D2E00425FA1}"/>
                </a:ext>
              </a:extLst>
            </p:cNvPr>
            <p:cNvPicPr>
              <a:picLocks noChangeAspect="1"/>
            </p:cNvPicPr>
            <p:nvPr/>
          </p:nvPicPr>
          <p:blipFill>
            <a:blip r:embed="rId3"/>
            <a:stretch>
              <a:fillRect/>
            </a:stretch>
          </p:blipFill>
          <p:spPr>
            <a:xfrm>
              <a:off x="9132570" y="2320290"/>
              <a:ext cx="754380" cy="754380"/>
            </a:xfrm>
            <a:prstGeom prst="rect">
              <a:avLst/>
            </a:prstGeom>
          </p:spPr>
        </p:pic>
        <p:sp>
          <p:nvSpPr>
            <p:cNvPr id="20" name="Text 13">
              <a:extLst>
                <a:ext uri="{FF2B5EF4-FFF2-40B4-BE49-F238E27FC236}">
                  <a16:creationId xmlns:a16="http://schemas.microsoft.com/office/drawing/2014/main" id="{2B2AE3F0-F979-EFEA-402F-9E28B5B65E49}"/>
                </a:ext>
              </a:extLst>
            </p:cNvPr>
            <p:cNvSpPr/>
            <p:nvPr/>
          </p:nvSpPr>
          <p:spPr>
            <a:xfrm>
              <a:off x="7589520" y="3657600"/>
              <a:ext cx="3794760" cy="822960"/>
            </a:xfrm>
            <a:prstGeom prst="rect">
              <a:avLst/>
            </a:prstGeom>
            <a:noFill/>
            <a:ln/>
          </p:spPr>
          <p:txBody>
            <a:bodyPr wrap="square" rtlCol="0" anchor="t"/>
            <a:lstStyle/>
            <a:p>
              <a:pPr marL="0" indent="0" algn="ctr">
                <a:buNone/>
              </a:pPr>
              <a:r>
                <a:rPr lang="en-US" sz="1500" dirty="0">
                  <a:solidFill>
                    <a:srgbClr val="FFFFFF"/>
                  </a:solidFill>
                  <a:latin typeface="Calibri" pitchFamily="34" charset="0"/>
                  <a:ea typeface="Calibri" pitchFamily="34" charset="-122"/>
                  <a:cs typeface="Calibri" pitchFamily="34" charset="-120"/>
                </a:rPr>
                <a:t>Console Based</a:t>
              </a:r>
              <a:endParaRPr lang="en-US" sz="1500" dirty="0"/>
            </a:p>
            <a:p>
              <a:pPr marL="0" indent="0" algn="ctr">
                <a:buNone/>
              </a:pPr>
              <a:r>
                <a:rPr lang="en-US" sz="1500" dirty="0">
                  <a:solidFill>
                    <a:srgbClr val="FFFFFF"/>
                  </a:solidFill>
                  <a:latin typeface="Calibri" pitchFamily="34" charset="0"/>
                  <a:ea typeface="Calibri" pitchFamily="34" charset="-122"/>
                  <a:cs typeface="Calibri" pitchFamily="34" charset="-120"/>
                </a:rPr>
                <a:t>ATM Application</a:t>
              </a:r>
              <a:endParaRPr lang="en-US" sz="1500" dirty="0"/>
            </a:p>
          </p:txBody>
        </p:sp>
        <p:sp>
          <p:nvSpPr>
            <p:cNvPr id="21" name="Text 14">
              <a:extLst>
                <a:ext uri="{FF2B5EF4-FFF2-40B4-BE49-F238E27FC236}">
                  <a16:creationId xmlns:a16="http://schemas.microsoft.com/office/drawing/2014/main" id="{EF1F11D2-8CDE-9F35-EDBE-9AFF37662928}"/>
                </a:ext>
              </a:extLst>
            </p:cNvPr>
            <p:cNvSpPr/>
            <p:nvPr/>
          </p:nvSpPr>
          <p:spPr>
            <a:xfrm>
              <a:off x="7589520" y="4389120"/>
              <a:ext cx="3794760" cy="822960"/>
            </a:xfrm>
            <a:prstGeom prst="rect">
              <a:avLst/>
            </a:prstGeom>
            <a:noFill/>
            <a:ln/>
          </p:spPr>
          <p:txBody>
            <a:bodyPr wrap="square" rtlCol="0" anchor="t"/>
            <a:lstStyle/>
            <a:p>
              <a:pPr marL="0" indent="0" algn="ctr">
                <a:buNone/>
              </a:pPr>
              <a:r>
                <a:rPr lang="en-US" sz="1150" dirty="0">
                  <a:solidFill>
                    <a:srgbClr val="4FA3D1"/>
                  </a:solidFill>
                  <a:latin typeface="Calibri" pitchFamily="34" charset="0"/>
                  <a:ea typeface="Calibri" pitchFamily="34" charset="-122"/>
                  <a:cs typeface="Calibri" pitchFamily="34" charset="-120"/>
                </a:rPr>
                <a:t>Built with Structures, Functions,</a:t>
              </a:r>
              <a:endParaRPr lang="en-US" sz="1150" dirty="0"/>
            </a:p>
            <a:p>
              <a:pPr marL="0" indent="0" algn="ctr">
                <a:buNone/>
              </a:pPr>
              <a:r>
                <a:rPr lang="en-US" sz="1150" dirty="0">
                  <a:solidFill>
                    <a:srgbClr val="4FA3D1"/>
                  </a:solidFill>
                  <a:latin typeface="Calibri" pitchFamily="34" charset="0"/>
                  <a:ea typeface="Calibri" pitchFamily="34" charset="-122"/>
                  <a:cs typeface="Calibri" pitchFamily="34" charset="-120"/>
                </a:rPr>
                <a:t>Arrays &amp; Binary Files</a:t>
              </a:r>
              <a:endParaRPr lang="en-US" sz="1150"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4" name="Shape 21">
            <a:extLst>
              <a:ext uri="{FF2B5EF4-FFF2-40B4-BE49-F238E27FC236}">
                <a16:creationId xmlns:a16="http://schemas.microsoft.com/office/drawing/2014/main" id="{0D63A6C5-0F3E-E364-6136-C6CE63702C39}"/>
              </a:ext>
            </a:extLst>
          </p:cNvPr>
          <p:cNvSpPr/>
          <p:nvPr/>
        </p:nvSpPr>
        <p:spPr>
          <a:xfrm>
            <a:off x="8275320" y="2595220"/>
            <a:ext cx="344304" cy="408474"/>
          </a:xfrm>
          <a:prstGeom prst="line">
            <a:avLst/>
          </a:prstGeom>
          <a:noFill/>
          <a:ln w="19050">
            <a:solidFill>
              <a:srgbClr val="E7ECF0"/>
            </a:solidFill>
            <a:prstDash val="solid"/>
          </a:ln>
        </p:spPr>
        <p:txBody>
          <a:bodyPr/>
          <a:lstStyle/>
          <a:p>
            <a:endParaRPr lang="en-IN"/>
          </a:p>
        </p:txBody>
      </p:sp>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16324A"/>
                </a:solidFill>
                <a:latin typeface="Cambria" pitchFamily="34" charset="0"/>
                <a:ea typeface="Cambria" pitchFamily="34" charset="-122"/>
                <a:cs typeface="Cambria" pitchFamily="34" charset="-120"/>
              </a:rPr>
              <a:t>Objectives &amp; C Concepts Used</a:t>
            </a:r>
            <a:endParaRPr lang="en-US" sz="3000" dirty="0"/>
          </a:p>
        </p:txBody>
      </p:sp>
      <p:sp>
        <p:nvSpPr>
          <p:cNvPr id="3" name="Shape 1"/>
          <p:cNvSpPr/>
          <p:nvPr/>
        </p:nvSpPr>
        <p:spPr>
          <a:xfrm>
            <a:off x="548640" y="1234440"/>
            <a:ext cx="5394960" cy="4480560"/>
          </a:xfrm>
          <a:prstGeom prst="rect">
            <a:avLst/>
          </a:prstGeom>
          <a:solidFill>
            <a:srgbClr val="F4F7FA"/>
          </a:solidFill>
          <a:ln/>
        </p:spPr>
        <p:txBody>
          <a:bodyPr/>
          <a:lstStyle/>
          <a:p>
            <a:endParaRPr lang="en-IN"/>
          </a:p>
        </p:txBody>
      </p:sp>
      <p:sp>
        <p:nvSpPr>
          <p:cNvPr id="4" name="Text 2"/>
          <p:cNvSpPr/>
          <p:nvPr/>
        </p:nvSpPr>
        <p:spPr>
          <a:xfrm>
            <a:off x="822960" y="1417320"/>
            <a:ext cx="4846320" cy="365760"/>
          </a:xfrm>
          <a:prstGeom prst="rect">
            <a:avLst/>
          </a:prstGeom>
          <a:noFill/>
          <a:ln/>
        </p:spPr>
        <p:txBody>
          <a:bodyPr wrap="square" rtlCol="0" anchor="ctr"/>
          <a:lstStyle/>
          <a:p>
            <a:pPr marL="0" indent="0">
              <a:buNone/>
            </a:pPr>
            <a:r>
              <a:rPr lang="en-US" sz="1800" b="1" dirty="0">
                <a:solidFill>
                  <a:srgbClr val="16324A"/>
                </a:solidFill>
                <a:latin typeface="Cambria" pitchFamily="34" charset="0"/>
                <a:ea typeface="Cambria" pitchFamily="34" charset="-122"/>
                <a:cs typeface="Cambria" pitchFamily="34" charset="-120"/>
              </a:rPr>
              <a:t>Objectives</a:t>
            </a:r>
            <a:endParaRPr lang="en-US" sz="1800" dirty="0"/>
          </a:p>
        </p:txBody>
      </p:sp>
      <p:sp>
        <p:nvSpPr>
          <p:cNvPr id="5" name="Text 3"/>
          <p:cNvSpPr/>
          <p:nvPr/>
        </p:nvSpPr>
        <p:spPr>
          <a:xfrm>
            <a:off x="822960" y="1874520"/>
            <a:ext cx="4846320" cy="3657600"/>
          </a:xfrm>
          <a:prstGeom prst="rect">
            <a:avLst/>
          </a:prstGeom>
          <a:noFill/>
          <a:ln/>
        </p:spPr>
        <p:txBody>
          <a:bodyPr wrap="square" rtlCol="0" anchor="t"/>
          <a:lstStyle/>
          <a:p>
            <a:pPr marL="228600" indent="-228600">
              <a:spcAft>
                <a:spcPts val="1000"/>
              </a:spcAft>
              <a:buSzPct val="100000"/>
              <a:buChar char="●"/>
            </a:pPr>
            <a:r>
              <a:rPr lang="en-US" sz="1450" dirty="0">
                <a:solidFill>
                  <a:srgbClr val="2B3238"/>
                </a:solidFill>
                <a:latin typeface="Calibri" pitchFamily="34" charset="0"/>
                <a:ea typeface="Calibri" pitchFamily="34" charset="-122"/>
                <a:cs typeface="Calibri" pitchFamily="34" charset="-120"/>
              </a:rPr>
              <a:t>Apply C programming concepts in one project</a:t>
            </a:r>
          </a:p>
          <a:p>
            <a:pPr>
              <a:spcAft>
                <a:spcPts val="1000"/>
              </a:spcAft>
              <a:buSzPct val="100000"/>
            </a:pPr>
            <a:endParaRPr lang="en-US" sz="1450" dirty="0"/>
          </a:p>
          <a:p>
            <a:pPr marL="228600" indent="-228600">
              <a:spcAft>
                <a:spcPts val="1000"/>
              </a:spcAft>
              <a:buSzPct val="100000"/>
              <a:buChar char="●"/>
            </a:pPr>
            <a:r>
              <a:rPr lang="en-US" sz="1450" dirty="0">
                <a:solidFill>
                  <a:srgbClr val="2B3238"/>
                </a:solidFill>
                <a:latin typeface="Calibri" pitchFamily="34" charset="0"/>
                <a:ea typeface="Calibri" pitchFamily="34" charset="-122"/>
                <a:cs typeface="Calibri" pitchFamily="34" charset="-120"/>
              </a:rPr>
              <a:t>Learn modular programming using functions</a:t>
            </a:r>
          </a:p>
          <a:p>
            <a:pPr>
              <a:spcAft>
                <a:spcPts val="1000"/>
              </a:spcAft>
              <a:buSzPct val="100000"/>
            </a:pPr>
            <a:endParaRPr lang="en-US" sz="1450" dirty="0"/>
          </a:p>
          <a:p>
            <a:pPr marL="228600" indent="-228600">
              <a:spcAft>
                <a:spcPts val="1000"/>
              </a:spcAft>
              <a:buSzPct val="100000"/>
              <a:buChar char="●"/>
            </a:pPr>
            <a:r>
              <a:rPr lang="en-US" sz="1450" dirty="0">
                <a:solidFill>
                  <a:srgbClr val="2B3238"/>
                </a:solidFill>
                <a:latin typeface="Calibri" pitchFamily="34" charset="0"/>
                <a:ea typeface="Calibri" pitchFamily="34" charset="-122"/>
                <a:cs typeface="Calibri" pitchFamily="34" charset="-120"/>
              </a:rPr>
              <a:t>Understand structures and arrays</a:t>
            </a:r>
          </a:p>
          <a:p>
            <a:pPr>
              <a:spcAft>
                <a:spcPts val="1000"/>
              </a:spcAft>
              <a:buSzPct val="100000"/>
            </a:pPr>
            <a:endParaRPr lang="en-US" sz="1450" dirty="0"/>
          </a:p>
          <a:p>
            <a:pPr marL="228600" indent="-228600">
              <a:spcAft>
                <a:spcPts val="1000"/>
              </a:spcAft>
              <a:buSzPct val="100000"/>
              <a:buChar char="●"/>
            </a:pPr>
            <a:r>
              <a:rPr lang="en-US" sz="1450" dirty="0">
                <a:solidFill>
                  <a:srgbClr val="2B3238"/>
                </a:solidFill>
                <a:latin typeface="Calibri" pitchFamily="34" charset="0"/>
                <a:ea typeface="Calibri" pitchFamily="34" charset="-122"/>
                <a:cs typeface="Calibri" pitchFamily="34" charset="-120"/>
              </a:rPr>
              <a:t>Practice binary file handling</a:t>
            </a:r>
          </a:p>
          <a:p>
            <a:pPr>
              <a:spcAft>
                <a:spcPts val="1000"/>
              </a:spcAft>
              <a:buSzPct val="100000"/>
            </a:pPr>
            <a:endParaRPr lang="en-US" sz="1450" dirty="0"/>
          </a:p>
          <a:p>
            <a:pPr marL="228600" indent="-228600">
              <a:spcAft>
                <a:spcPts val="1000"/>
              </a:spcAft>
              <a:buSzPct val="100000"/>
              <a:buChar char="●"/>
            </a:pPr>
            <a:r>
              <a:rPr lang="en-US" sz="1450" dirty="0">
                <a:solidFill>
                  <a:srgbClr val="2B3238"/>
                </a:solidFill>
                <a:latin typeface="Calibri" pitchFamily="34" charset="0"/>
                <a:ea typeface="Calibri" pitchFamily="34" charset="-122"/>
                <a:cs typeface="Calibri" pitchFamily="34" charset="-120"/>
              </a:rPr>
              <a:t>Improve programming logic and problem-solving</a:t>
            </a:r>
            <a:endParaRPr lang="en-US" sz="1450" dirty="0"/>
          </a:p>
        </p:txBody>
      </p:sp>
      <p:sp>
        <p:nvSpPr>
          <p:cNvPr id="6" name="Shape 4"/>
          <p:cNvSpPr/>
          <p:nvPr/>
        </p:nvSpPr>
        <p:spPr>
          <a:xfrm>
            <a:off x="8275320" y="2743200"/>
            <a:ext cx="1554480" cy="1554480"/>
          </a:xfrm>
          <a:prstGeom prst="ellipse">
            <a:avLst/>
          </a:prstGeom>
          <a:solidFill>
            <a:srgbClr val="16324A"/>
          </a:solidFill>
          <a:ln/>
        </p:spPr>
        <p:txBody>
          <a:bodyPr/>
          <a:lstStyle/>
          <a:p>
            <a:endParaRPr lang="en-IN"/>
          </a:p>
        </p:txBody>
      </p:sp>
      <p:sp>
        <p:nvSpPr>
          <p:cNvPr id="7" name="Text 5"/>
          <p:cNvSpPr/>
          <p:nvPr/>
        </p:nvSpPr>
        <p:spPr>
          <a:xfrm>
            <a:off x="8275320" y="3246120"/>
            <a:ext cx="1554480" cy="54864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C</a:t>
            </a:r>
            <a:endParaRPr lang="en-US" sz="1200" dirty="0"/>
          </a:p>
          <a:p>
            <a:pPr marL="0" indent="0" algn="ctr">
              <a:buNone/>
            </a:pPr>
            <a:r>
              <a:rPr lang="en-US" sz="1200" b="1" dirty="0">
                <a:solidFill>
                  <a:srgbClr val="FFFFFF"/>
                </a:solidFill>
                <a:latin typeface="Cambria" pitchFamily="34" charset="0"/>
                <a:ea typeface="Cambria" pitchFamily="34" charset="-122"/>
                <a:cs typeface="Cambria" pitchFamily="34" charset="-120"/>
              </a:rPr>
              <a:t>CONCEPTS</a:t>
            </a:r>
            <a:endParaRPr lang="en-US" sz="1200" dirty="0"/>
          </a:p>
        </p:txBody>
      </p:sp>
      <p:sp>
        <p:nvSpPr>
          <p:cNvPr id="8" name="Shape 6"/>
          <p:cNvSpPr/>
          <p:nvPr/>
        </p:nvSpPr>
        <p:spPr>
          <a:xfrm>
            <a:off x="9052560" y="2763317"/>
            <a:ext cx="0" cy="0"/>
          </a:xfrm>
          <a:prstGeom prst="line">
            <a:avLst/>
          </a:prstGeom>
          <a:noFill/>
          <a:ln w="19050">
            <a:solidFill>
              <a:srgbClr val="E7ECF0"/>
            </a:solidFill>
            <a:prstDash val="solid"/>
          </a:ln>
        </p:spPr>
        <p:txBody>
          <a:bodyPr/>
          <a:lstStyle/>
          <a:p>
            <a:endParaRPr lang="en-IN"/>
          </a:p>
        </p:txBody>
      </p:sp>
      <p:sp>
        <p:nvSpPr>
          <p:cNvPr id="9" name="Shape 7"/>
          <p:cNvSpPr/>
          <p:nvPr/>
        </p:nvSpPr>
        <p:spPr>
          <a:xfrm>
            <a:off x="8366760" y="1628546"/>
            <a:ext cx="1371600" cy="502920"/>
          </a:xfrm>
          <a:prstGeom prst="roundRect">
            <a:avLst>
              <a:gd name="adj" fmla="val 50909"/>
            </a:avLst>
          </a:prstGeom>
          <a:solidFill>
            <a:srgbClr val="4FA3D1"/>
          </a:solidFill>
          <a:ln/>
        </p:spPr>
        <p:txBody>
          <a:bodyPr/>
          <a:lstStyle/>
          <a:p>
            <a:endParaRPr lang="en-IN"/>
          </a:p>
        </p:txBody>
      </p:sp>
      <p:sp>
        <p:nvSpPr>
          <p:cNvPr id="10" name="Text 8"/>
          <p:cNvSpPr/>
          <p:nvPr/>
        </p:nvSpPr>
        <p:spPr>
          <a:xfrm>
            <a:off x="8366760" y="1628546"/>
            <a:ext cx="1371600"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Structures</a:t>
            </a:r>
            <a:endParaRPr lang="en-US" sz="1050" dirty="0"/>
          </a:p>
        </p:txBody>
      </p:sp>
      <p:sp>
        <p:nvSpPr>
          <p:cNvPr id="11" name="Shape 9"/>
          <p:cNvSpPr/>
          <p:nvPr/>
        </p:nvSpPr>
        <p:spPr>
          <a:xfrm flipV="1">
            <a:off x="9695976" y="2675842"/>
            <a:ext cx="158911" cy="372539"/>
          </a:xfrm>
          <a:prstGeom prst="line">
            <a:avLst/>
          </a:prstGeom>
          <a:noFill/>
          <a:ln w="19050">
            <a:solidFill>
              <a:srgbClr val="E7ECF0"/>
            </a:solidFill>
            <a:prstDash val="solid"/>
          </a:ln>
        </p:spPr>
        <p:txBody>
          <a:bodyPr/>
          <a:lstStyle/>
          <a:p>
            <a:endParaRPr lang="en-IN"/>
          </a:p>
        </p:txBody>
      </p:sp>
      <p:sp>
        <p:nvSpPr>
          <p:cNvPr id="12" name="Shape 10"/>
          <p:cNvSpPr/>
          <p:nvPr/>
        </p:nvSpPr>
        <p:spPr>
          <a:xfrm>
            <a:off x="9760828" y="2246186"/>
            <a:ext cx="1371600" cy="502920"/>
          </a:xfrm>
          <a:prstGeom prst="roundRect">
            <a:avLst>
              <a:gd name="adj" fmla="val 50909"/>
            </a:avLst>
          </a:prstGeom>
          <a:solidFill>
            <a:srgbClr val="4FA3D1"/>
          </a:solidFill>
          <a:ln/>
        </p:spPr>
        <p:txBody>
          <a:bodyPr/>
          <a:lstStyle/>
          <a:p>
            <a:endParaRPr lang="en-IN"/>
          </a:p>
        </p:txBody>
      </p:sp>
      <p:sp>
        <p:nvSpPr>
          <p:cNvPr id="13" name="Text 11"/>
          <p:cNvSpPr/>
          <p:nvPr/>
        </p:nvSpPr>
        <p:spPr>
          <a:xfrm>
            <a:off x="9760828" y="2246186"/>
            <a:ext cx="1371600"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Functions</a:t>
            </a:r>
            <a:endParaRPr lang="en-US" sz="1050" dirty="0"/>
          </a:p>
        </p:txBody>
      </p:sp>
      <p:sp>
        <p:nvSpPr>
          <p:cNvPr id="14" name="Shape 12"/>
          <p:cNvSpPr/>
          <p:nvPr/>
        </p:nvSpPr>
        <p:spPr>
          <a:xfrm>
            <a:off x="9854887" y="3688916"/>
            <a:ext cx="936048" cy="196555"/>
          </a:xfrm>
          <a:prstGeom prst="line">
            <a:avLst/>
          </a:prstGeom>
          <a:noFill/>
          <a:ln w="19050">
            <a:solidFill>
              <a:srgbClr val="E7ECF0"/>
            </a:solidFill>
            <a:prstDash val="solid"/>
          </a:ln>
        </p:spPr>
        <p:txBody>
          <a:bodyPr/>
          <a:lstStyle/>
          <a:p>
            <a:endParaRPr lang="en-IN"/>
          </a:p>
        </p:txBody>
      </p:sp>
      <p:sp>
        <p:nvSpPr>
          <p:cNvPr id="15" name="Shape 13"/>
          <p:cNvSpPr/>
          <p:nvPr/>
        </p:nvSpPr>
        <p:spPr>
          <a:xfrm>
            <a:off x="10105134" y="3634011"/>
            <a:ext cx="1371600" cy="502920"/>
          </a:xfrm>
          <a:prstGeom prst="roundRect">
            <a:avLst>
              <a:gd name="adj" fmla="val 50909"/>
            </a:avLst>
          </a:prstGeom>
          <a:solidFill>
            <a:srgbClr val="4FA3D1"/>
          </a:solidFill>
          <a:ln/>
        </p:spPr>
        <p:txBody>
          <a:bodyPr/>
          <a:lstStyle/>
          <a:p>
            <a:endParaRPr lang="en-IN"/>
          </a:p>
        </p:txBody>
      </p:sp>
      <p:sp>
        <p:nvSpPr>
          <p:cNvPr id="16" name="Text 14"/>
          <p:cNvSpPr/>
          <p:nvPr/>
        </p:nvSpPr>
        <p:spPr>
          <a:xfrm>
            <a:off x="10105134" y="3634011"/>
            <a:ext cx="1371600"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Arrays</a:t>
            </a:r>
            <a:endParaRPr lang="en-US" sz="1050" dirty="0"/>
          </a:p>
        </p:txBody>
      </p:sp>
      <p:sp>
        <p:nvSpPr>
          <p:cNvPr id="17" name="Shape 15"/>
          <p:cNvSpPr/>
          <p:nvPr/>
        </p:nvSpPr>
        <p:spPr>
          <a:xfrm>
            <a:off x="9409629" y="4202584"/>
            <a:ext cx="416580" cy="795835"/>
          </a:xfrm>
          <a:prstGeom prst="line">
            <a:avLst/>
          </a:prstGeom>
          <a:noFill/>
          <a:ln w="19050">
            <a:solidFill>
              <a:srgbClr val="E7ECF0"/>
            </a:solidFill>
            <a:prstDash val="solid"/>
          </a:ln>
        </p:spPr>
        <p:txBody>
          <a:bodyPr/>
          <a:lstStyle/>
          <a:p>
            <a:endParaRPr lang="en-IN"/>
          </a:p>
        </p:txBody>
      </p:sp>
      <p:sp>
        <p:nvSpPr>
          <p:cNvPr id="18" name="Shape 16"/>
          <p:cNvSpPr/>
          <p:nvPr/>
        </p:nvSpPr>
        <p:spPr>
          <a:xfrm>
            <a:off x="9140409" y="4746960"/>
            <a:ext cx="1371600" cy="502920"/>
          </a:xfrm>
          <a:prstGeom prst="roundRect">
            <a:avLst>
              <a:gd name="adj" fmla="val 50909"/>
            </a:avLst>
          </a:prstGeom>
          <a:solidFill>
            <a:srgbClr val="4FA3D1"/>
          </a:solidFill>
          <a:ln/>
        </p:spPr>
        <p:txBody>
          <a:bodyPr/>
          <a:lstStyle/>
          <a:p>
            <a:endParaRPr lang="en-IN"/>
          </a:p>
        </p:txBody>
      </p:sp>
      <p:sp>
        <p:nvSpPr>
          <p:cNvPr id="19" name="Text 17"/>
          <p:cNvSpPr/>
          <p:nvPr/>
        </p:nvSpPr>
        <p:spPr>
          <a:xfrm>
            <a:off x="9140409" y="4746960"/>
            <a:ext cx="1371600"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Loops</a:t>
            </a:r>
            <a:endParaRPr lang="en-US" sz="1050" dirty="0"/>
          </a:p>
        </p:txBody>
      </p:sp>
      <p:sp>
        <p:nvSpPr>
          <p:cNvPr id="20" name="Shape 18"/>
          <p:cNvSpPr/>
          <p:nvPr/>
        </p:nvSpPr>
        <p:spPr>
          <a:xfrm flipH="1">
            <a:off x="8366760" y="4202585"/>
            <a:ext cx="328731" cy="598016"/>
          </a:xfrm>
          <a:prstGeom prst="line">
            <a:avLst/>
          </a:prstGeom>
          <a:noFill/>
          <a:ln w="19050">
            <a:solidFill>
              <a:srgbClr val="E7ECF0"/>
            </a:solidFill>
            <a:prstDash val="solid"/>
          </a:ln>
        </p:spPr>
        <p:txBody>
          <a:bodyPr/>
          <a:lstStyle/>
          <a:p>
            <a:endParaRPr lang="en-IN"/>
          </a:p>
        </p:txBody>
      </p:sp>
      <p:sp>
        <p:nvSpPr>
          <p:cNvPr id="21" name="Shape 19"/>
          <p:cNvSpPr/>
          <p:nvPr/>
        </p:nvSpPr>
        <p:spPr>
          <a:xfrm>
            <a:off x="7593111" y="4746960"/>
            <a:ext cx="1371600" cy="502920"/>
          </a:xfrm>
          <a:prstGeom prst="roundRect">
            <a:avLst>
              <a:gd name="adj" fmla="val 50909"/>
            </a:avLst>
          </a:prstGeom>
          <a:solidFill>
            <a:srgbClr val="4FA3D1"/>
          </a:solidFill>
          <a:ln/>
        </p:spPr>
        <p:txBody>
          <a:bodyPr/>
          <a:lstStyle/>
          <a:p>
            <a:endParaRPr lang="en-IN"/>
          </a:p>
        </p:txBody>
      </p:sp>
      <p:sp>
        <p:nvSpPr>
          <p:cNvPr id="22" name="Text 20"/>
          <p:cNvSpPr/>
          <p:nvPr/>
        </p:nvSpPr>
        <p:spPr>
          <a:xfrm>
            <a:off x="7593111" y="4746960"/>
            <a:ext cx="1371600"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Switch Case</a:t>
            </a:r>
            <a:endParaRPr lang="en-US" sz="1050" dirty="0"/>
          </a:p>
        </p:txBody>
      </p:sp>
      <p:sp>
        <p:nvSpPr>
          <p:cNvPr id="23" name="Shape 21"/>
          <p:cNvSpPr/>
          <p:nvPr/>
        </p:nvSpPr>
        <p:spPr>
          <a:xfrm flipH="1">
            <a:off x="7889966" y="3688916"/>
            <a:ext cx="360267" cy="196555"/>
          </a:xfrm>
          <a:prstGeom prst="line">
            <a:avLst/>
          </a:prstGeom>
          <a:noFill/>
          <a:ln w="19050">
            <a:solidFill>
              <a:srgbClr val="E7ECF0"/>
            </a:solidFill>
            <a:prstDash val="solid"/>
          </a:ln>
        </p:spPr>
        <p:txBody>
          <a:bodyPr/>
          <a:lstStyle/>
          <a:p>
            <a:endParaRPr lang="en-IN"/>
          </a:p>
        </p:txBody>
      </p:sp>
      <p:sp>
        <p:nvSpPr>
          <p:cNvPr id="24" name="Shape 22"/>
          <p:cNvSpPr/>
          <p:nvPr/>
        </p:nvSpPr>
        <p:spPr>
          <a:xfrm>
            <a:off x="6628386" y="3634011"/>
            <a:ext cx="1371600" cy="502920"/>
          </a:xfrm>
          <a:prstGeom prst="roundRect">
            <a:avLst>
              <a:gd name="adj" fmla="val 50909"/>
            </a:avLst>
          </a:prstGeom>
          <a:solidFill>
            <a:srgbClr val="4FA3D1"/>
          </a:solidFill>
          <a:ln/>
        </p:spPr>
        <p:txBody>
          <a:bodyPr/>
          <a:lstStyle/>
          <a:p>
            <a:endParaRPr lang="en-IN"/>
          </a:p>
        </p:txBody>
      </p:sp>
      <p:sp>
        <p:nvSpPr>
          <p:cNvPr id="25" name="Text 23"/>
          <p:cNvSpPr/>
          <p:nvPr/>
        </p:nvSpPr>
        <p:spPr>
          <a:xfrm>
            <a:off x="6628386" y="3634011"/>
            <a:ext cx="1371600"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Conditions</a:t>
            </a:r>
            <a:endParaRPr lang="en-US" sz="1050" dirty="0"/>
          </a:p>
        </p:txBody>
      </p:sp>
      <p:sp>
        <p:nvSpPr>
          <p:cNvPr id="26" name="Shape 24"/>
          <p:cNvSpPr/>
          <p:nvPr/>
        </p:nvSpPr>
        <p:spPr>
          <a:xfrm>
            <a:off x="8409144" y="3048381"/>
            <a:ext cx="0" cy="0"/>
          </a:xfrm>
          <a:prstGeom prst="line">
            <a:avLst/>
          </a:prstGeom>
          <a:noFill/>
          <a:ln w="19050">
            <a:solidFill>
              <a:srgbClr val="E7ECF0"/>
            </a:solidFill>
            <a:prstDash val="solid"/>
          </a:ln>
        </p:spPr>
        <p:txBody>
          <a:bodyPr/>
          <a:lstStyle/>
          <a:p>
            <a:endParaRPr lang="en-IN"/>
          </a:p>
        </p:txBody>
      </p:sp>
      <p:sp>
        <p:nvSpPr>
          <p:cNvPr id="27" name="Shape 25"/>
          <p:cNvSpPr/>
          <p:nvPr/>
        </p:nvSpPr>
        <p:spPr>
          <a:xfrm>
            <a:off x="6972692" y="2246186"/>
            <a:ext cx="1371600" cy="502920"/>
          </a:xfrm>
          <a:prstGeom prst="roundRect">
            <a:avLst>
              <a:gd name="adj" fmla="val 50909"/>
            </a:avLst>
          </a:prstGeom>
          <a:solidFill>
            <a:srgbClr val="4FA3D1"/>
          </a:solidFill>
          <a:ln/>
        </p:spPr>
        <p:txBody>
          <a:bodyPr/>
          <a:lstStyle/>
          <a:p>
            <a:endParaRPr lang="en-IN"/>
          </a:p>
        </p:txBody>
      </p:sp>
      <p:sp>
        <p:nvSpPr>
          <p:cNvPr id="28" name="Text 26"/>
          <p:cNvSpPr/>
          <p:nvPr/>
        </p:nvSpPr>
        <p:spPr>
          <a:xfrm>
            <a:off x="6972692" y="2246186"/>
            <a:ext cx="1371600"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File Handling</a:t>
            </a:r>
            <a:endParaRPr lang="en-US" sz="1050" dirty="0"/>
          </a:p>
        </p:txBody>
      </p:sp>
      <p:sp>
        <p:nvSpPr>
          <p:cNvPr id="29" name="Text 27"/>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7C8A94"/>
                </a:solidFill>
                <a:latin typeface="Calibri" pitchFamily="34" charset="0"/>
                <a:ea typeface="Calibri" pitchFamily="34" charset="-122"/>
                <a:cs typeface="Calibri" pitchFamily="34" charset="-120"/>
              </a:rPr>
              <a:t>ATM Banking System — C Programming Mini Project</a:t>
            </a:r>
            <a:endParaRPr lang="en-US" sz="900" dirty="0"/>
          </a:p>
        </p:txBody>
      </p:sp>
      <p:sp>
        <p:nvSpPr>
          <p:cNvPr id="30" name="Text 28"/>
          <p:cNvSpPr/>
          <p:nvPr/>
        </p:nvSpPr>
        <p:spPr>
          <a:xfrm>
            <a:off x="11274552" y="6510528"/>
            <a:ext cx="457200" cy="274320"/>
          </a:xfrm>
          <a:prstGeom prst="rect">
            <a:avLst/>
          </a:prstGeom>
          <a:noFill/>
          <a:ln/>
        </p:spPr>
        <p:txBody>
          <a:bodyPr wrap="square" rtlCol="0" anchor="ctr"/>
          <a:lstStyle/>
          <a:p>
            <a:pPr marL="0" indent="0" algn="r">
              <a:buNone/>
            </a:pPr>
            <a:r>
              <a:rPr lang="en-US" sz="900" dirty="0">
                <a:solidFill>
                  <a:srgbClr val="7C8A94"/>
                </a:solidFill>
                <a:latin typeface="Calibri" pitchFamily="34" charset="0"/>
                <a:ea typeface="Calibri" pitchFamily="34" charset="-122"/>
                <a:cs typeface="Calibri" pitchFamily="34" charset="-120"/>
              </a:rPr>
              <a:t>3</a:t>
            </a:r>
            <a:endParaRPr lang="en-US" sz="900" dirty="0"/>
          </a:p>
        </p:txBody>
      </p:sp>
      <p:sp>
        <p:nvSpPr>
          <p:cNvPr id="32" name="Shape 21">
            <a:extLst>
              <a:ext uri="{FF2B5EF4-FFF2-40B4-BE49-F238E27FC236}">
                <a16:creationId xmlns:a16="http://schemas.microsoft.com/office/drawing/2014/main" id="{C8073763-36A5-2126-D9D0-94E4B94150BF}"/>
              </a:ext>
            </a:extLst>
          </p:cNvPr>
          <p:cNvSpPr/>
          <p:nvPr/>
        </p:nvSpPr>
        <p:spPr>
          <a:xfrm flipH="1">
            <a:off x="9052558" y="2131467"/>
            <a:ext cx="0" cy="622706"/>
          </a:xfrm>
          <a:prstGeom prst="line">
            <a:avLst/>
          </a:prstGeom>
          <a:noFill/>
          <a:ln w="19050">
            <a:solidFill>
              <a:srgbClr val="E7ECF0"/>
            </a:solidFill>
            <a:prstDash val="solid"/>
          </a:ln>
        </p:spPr>
        <p:txBody>
          <a:bodyPr/>
          <a:lstStyle/>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16324A"/>
                </a:solidFill>
                <a:latin typeface="Cambria" pitchFamily="34" charset="0"/>
                <a:ea typeface="Cambria" pitchFamily="34" charset="-122"/>
                <a:cs typeface="Cambria" pitchFamily="34" charset="-120"/>
              </a:rPr>
              <a:t>System Architecture &amp; Working Flow</a:t>
            </a:r>
            <a:endParaRPr lang="en-US" sz="3000" dirty="0"/>
          </a:p>
        </p:txBody>
      </p:sp>
      <p:sp>
        <p:nvSpPr>
          <p:cNvPr id="3" name="Text 1"/>
          <p:cNvSpPr/>
          <p:nvPr/>
        </p:nvSpPr>
        <p:spPr>
          <a:xfrm>
            <a:off x="548640" y="1143000"/>
            <a:ext cx="5120640" cy="320040"/>
          </a:xfrm>
          <a:prstGeom prst="rect">
            <a:avLst/>
          </a:prstGeom>
          <a:noFill/>
          <a:ln/>
        </p:spPr>
        <p:txBody>
          <a:bodyPr wrap="square" rtlCol="0" anchor="ctr"/>
          <a:lstStyle/>
          <a:p>
            <a:pPr marL="0" indent="0">
              <a:buNone/>
            </a:pPr>
            <a:r>
              <a:rPr lang="en-US" sz="1500" b="1" dirty="0">
                <a:solidFill>
                  <a:srgbClr val="16324A"/>
                </a:solidFill>
                <a:latin typeface="Cambria" pitchFamily="34" charset="0"/>
                <a:ea typeface="Cambria" pitchFamily="34" charset="-122"/>
                <a:cs typeface="Cambria" pitchFamily="34" charset="-120"/>
              </a:rPr>
              <a:t>Architecture</a:t>
            </a:r>
            <a:endParaRPr lang="en-US" sz="1500" dirty="0"/>
          </a:p>
        </p:txBody>
      </p:sp>
      <p:sp>
        <p:nvSpPr>
          <p:cNvPr id="4" name="Shape 2"/>
          <p:cNvSpPr/>
          <p:nvPr/>
        </p:nvSpPr>
        <p:spPr>
          <a:xfrm>
            <a:off x="1463040" y="1554480"/>
            <a:ext cx="3291840" cy="502920"/>
          </a:xfrm>
          <a:prstGeom prst="roundRect">
            <a:avLst>
              <a:gd name="adj" fmla="val 10909"/>
            </a:avLst>
          </a:prstGeom>
          <a:solidFill>
            <a:srgbClr val="16324A"/>
          </a:solidFill>
          <a:ln/>
        </p:spPr>
        <p:txBody>
          <a:bodyPr/>
          <a:lstStyle/>
          <a:p>
            <a:endParaRPr lang="en-IN"/>
          </a:p>
        </p:txBody>
      </p:sp>
      <p:sp>
        <p:nvSpPr>
          <p:cNvPr id="5" name="Text 3"/>
          <p:cNvSpPr/>
          <p:nvPr/>
        </p:nvSpPr>
        <p:spPr>
          <a:xfrm>
            <a:off x="1508760" y="1554480"/>
            <a:ext cx="3200400" cy="50292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Bank Module (Create Account)</a:t>
            </a:r>
            <a:endParaRPr lang="en-US" sz="1150" dirty="0"/>
          </a:p>
        </p:txBody>
      </p:sp>
      <p:sp>
        <p:nvSpPr>
          <p:cNvPr id="6" name="Shape 4"/>
          <p:cNvSpPr/>
          <p:nvPr/>
        </p:nvSpPr>
        <p:spPr>
          <a:xfrm>
            <a:off x="3026664" y="2093976"/>
            <a:ext cx="164592" cy="182880"/>
          </a:xfrm>
          <a:prstGeom prst="downArrow">
            <a:avLst/>
          </a:prstGeom>
          <a:solidFill>
            <a:srgbClr val="7C8A94"/>
          </a:solidFill>
          <a:ln/>
        </p:spPr>
        <p:txBody>
          <a:bodyPr/>
          <a:lstStyle/>
          <a:p>
            <a:endParaRPr lang="en-IN"/>
          </a:p>
        </p:txBody>
      </p:sp>
      <p:sp>
        <p:nvSpPr>
          <p:cNvPr id="7" name="Shape 5"/>
          <p:cNvSpPr/>
          <p:nvPr/>
        </p:nvSpPr>
        <p:spPr>
          <a:xfrm>
            <a:off x="1463040" y="2313432"/>
            <a:ext cx="3291840" cy="365760"/>
          </a:xfrm>
          <a:prstGeom prst="roundRect">
            <a:avLst>
              <a:gd name="adj" fmla="val 15000"/>
            </a:avLst>
          </a:prstGeom>
          <a:solidFill>
            <a:srgbClr val="E7ECF0"/>
          </a:solidFill>
          <a:ln/>
        </p:spPr>
        <p:txBody>
          <a:bodyPr/>
          <a:lstStyle/>
          <a:p>
            <a:endParaRPr lang="en-IN"/>
          </a:p>
        </p:txBody>
      </p:sp>
      <p:sp>
        <p:nvSpPr>
          <p:cNvPr id="8" name="Text 6"/>
          <p:cNvSpPr/>
          <p:nvPr/>
        </p:nvSpPr>
        <p:spPr>
          <a:xfrm>
            <a:off x="1508760" y="2313432"/>
            <a:ext cx="3200400" cy="365760"/>
          </a:xfrm>
          <a:prstGeom prst="rect">
            <a:avLst/>
          </a:prstGeom>
          <a:noFill/>
          <a:ln/>
        </p:spPr>
        <p:txBody>
          <a:bodyPr wrap="square" rtlCol="0" anchor="ctr"/>
          <a:lstStyle/>
          <a:p>
            <a:pPr marL="0" indent="0" algn="ctr">
              <a:buNone/>
            </a:pPr>
            <a:r>
              <a:rPr lang="en-US" sz="1050" b="1" dirty="0">
                <a:solidFill>
                  <a:srgbClr val="16324A"/>
                </a:solidFill>
                <a:latin typeface="Calibri" pitchFamily="34" charset="0"/>
                <a:ea typeface="Calibri" pitchFamily="34" charset="-122"/>
                <a:cs typeface="Calibri" pitchFamily="34" charset="-120"/>
              </a:rPr>
              <a:t>bank.dat</a:t>
            </a:r>
            <a:endParaRPr lang="en-US" sz="1050" dirty="0"/>
          </a:p>
        </p:txBody>
      </p:sp>
      <p:sp>
        <p:nvSpPr>
          <p:cNvPr id="9" name="Shape 7"/>
          <p:cNvSpPr/>
          <p:nvPr/>
        </p:nvSpPr>
        <p:spPr>
          <a:xfrm>
            <a:off x="3026664" y="2715768"/>
            <a:ext cx="164592" cy="182880"/>
          </a:xfrm>
          <a:prstGeom prst="downArrow">
            <a:avLst/>
          </a:prstGeom>
          <a:solidFill>
            <a:srgbClr val="7C8A94"/>
          </a:solidFill>
          <a:ln/>
        </p:spPr>
        <p:txBody>
          <a:bodyPr/>
          <a:lstStyle/>
          <a:p>
            <a:endParaRPr lang="en-IN"/>
          </a:p>
        </p:txBody>
      </p:sp>
      <p:sp>
        <p:nvSpPr>
          <p:cNvPr id="10" name="Shape 8"/>
          <p:cNvSpPr/>
          <p:nvPr/>
        </p:nvSpPr>
        <p:spPr>
          <a:xfrm>
            <a:off x="1463040" y="2935224"/>
            <a:ext cx="3291840" cy="502920"/>
          </a:xfrm>
          <a:prstGeom prst="roundRect">
            <a:avLst>
              <a:gd name="adj" fmla="val 10909"/>
            </a:avLst>
          </a:prstGeom>
          <a:solidFill>
            <a:srgbClr val="16324A"/>
          </a:solidFill>
          <a:ln/>
        </p:spPr>
        <p:txBody>
          <a:bodyPr/>
          <a:lstStyle/>
          <a:p>
            <a:endParaRPr lang="en-IN"/>
          </a:p>
        </p:txBody>
      </p:sp>
      <p:sp>
        <p:nvSpPr>
          <p:cNvPr id="11" name="Text 9"/>
          <p:cNvSpPr/>
          <p:nvPr/>
        </p:nvSpPr>
        <p:spPr>
          <a:xfrm>
            <a:off x="1508760" y="2935224"/>
            <a:ext cx="3200400" cy="50292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ATM Module → Login</a:t>
            </a:r>
            <a:endParaRPr lang="en-US" sz="1150" dirty="0"/>
          </a:p>
        </p:txBody>
      </p:sp>
      <p:sp>
        <p:nvSpPr>
          <p:cNvPr id="12" name="Shape 10"/>
          <p:cNvSpPr/>
          <p:nvPr/>
        </p:nvSpPr>
        <p:spPr>
          <a:xfrm>
            <a:off x="3026664" y="3474720"/>
            <a:ext cx="164592" cy="182880"/>
          </a:xfrm>
          <a:prstGeom prst="downArrow">
            <a:avLst/>
          </a:prstGeom>
          <a:solidFill>
            <a:srgbClr val="7C8A94"/>
          </a:solidFill>
          <a:ln/>
        </p:spPr>
        <p:txBody>
          <a:bodyPr/>
          <a:lstStyle/>
          <a:p>
            <a:endParaRPr lang="en-IN"/>
          </a:p>
        </p:txBody>
      </p:sp>
      <p:sp>
        <p:nvSpPr>
          <p:cNvPr id="13" name="Shape 11"/>
          <p:cNvSpPr/>
          <p:nvPr/>
        </p:nvSpPr>
        <p:spPr>
          <a:xfrm>
            <a:off x="1463040" y="3694176"/>
            <a:ext cx="3291840" cy="502920"/>
          </a:xfrm>
          <a:prstGeom prst="roundRect">
            <a:avLst>
              <a:gd name="adj" fmla="val 10909"/>
            </a:avLst>
          </a:prstGeom>
          <a:solidFill>
            <a:srgbClr val="2E6E9E"/>
          </a:solidFill>
          <a:ln/>
        </p:spPr>
        <p:txBody>
          <a:bodyPr/>
          <a:lstStyle/>
          <a:p>
            <a:endParaRPr lang="en-IN"/>
          </a:p>
        </p:txBody>
      </p:sp>
      <p:sp>
        <p:nvSpPr>
          <p:cNvPr id="14" name="Text 12"/>
          <p:cNvSpPr/>
          <p:nvPr/>
        </p:nvSpPr>
        <p:spPr>
          <a:xfrm>
            <a:off x="1508760" y="3694176"/>
            <a:ext cx="3200400" cy="50292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ATM Menu</a:t>
            </a:r>
            <a:endParaRPr lang="en-US" sz="1150" dirty="0"/>
          </a:p>
        </p:txBody>
      </p:sp>
      <p:sp>
        <p:nvSpPr>
          <p:cNvPr id="15" name="Shape 13"/>
          <p:cNvSpPr/>
          <p:nvPr/>
        </p:nvSpPr>
        <p:spPr>
          <a:xfrm>
            <a:off x="3026664" y="4233672"/>
            <a:ext cx="164592" cy="182880"/>
          </a:xfrm>
          <a:prstGeom prst="downArrow">
            <a:avLst/>
          </a:prstGeom>
          <a:solidFill>
            <a:srgbClr val="7C8A94"/>
          </a:solidFill>
          <a:ln/>
        </p:spPr>
        <p:txBody>
          <a:bodyPr/>
          <a:lstStyle/>
          <a:p>
            <a:endParaRPr lang="en-IN"/>
          </a:p>
        </p:txBody>
      </p:sp>
      <p:sp>
        <p:nvSpPr>
          <p:cNvPr id="16" name="Shape 14"/>
          <p:cNvSpPr/>
          <p:nvPr/>
        </p:nvSpPr>
        <p:spPr>
          <a:xfrm>
            <a:off x="1463040" y="4453128"/>
            <a:ext cx="3291840" cy="502920"/>
          </a:xfrm>
          <a:prstGeom prst="roundRect">
            <a:avLst>
              <a:gd name="adj" fmla="val 10909"/>
            </a:avLst>
          </a:prstGeom>
          <a:solidFill>
            <a:srgbClr val="F4F7FA"/>
          </a:solidFill>
          <a:ln/>
        </p:spPr>
        <p:txBody>
          <a:bodyPr/>
          <a:lstStyle/>
          <a:p>
            <a:endParaRPr lang="en-IN"/>
          </a:p>
        </p:txBody>
      </p:sp>
      <p:sp>
        <p:nvSpPr>
          <p:cNvPr id="17" name="Text 15"/>
          <p:cNvSpPr/>
          <p:nvPr/>
        </p:nvSpPr>
        <p:spPr>
          <a:xfrm>
            <a:off x="1508760" y="4453128"/>
            <a:ext cx="3200400" cy="502920"/>
          </a:xfrm>
          <a:prstGeom prst="rect">
            <a:avLst/>
          </a:prstGeom>
          <a:noFill/>
          <a:ln/>
        </p:spPr>
        <p:txBody>
          <a:bodyPr wrap="square" rtlCol="0" anchor="ctr"/>
          <a:lstStyle/>
          <a:p>
            <a:pPr marL="0" indent="0" algn="ctr">
              <a:buNone/>
            </a:pPr>
            <a:r>
              <a:rPr lang="en-US" sz="950" b="1" dirty="0">
                <a:solidFill>
                  <a:srgbClr val="16324A"/>
                </a:solidFill>
                <a:latin typeface="Calibri" pitchFamily="34" charset="0"/>
                <a:ea typeface="Calibri" pitchFamily="34" charset="-122"/>
                <a:cs typeface="Calibri" pitchFamily="34" charset="-120"/>
              </a:rPr>
              <a:t>Balance • Deposit • Withdraw • Transfer • PIN • Statement</a:t>
            </a:r>
            <a:endParaRPr lang="en-US" sz="950" dirty="0"/>
          </a:p>
        </p:txBody>
      </p:sp>
      <p:sp>
        <p:nvSpPr>
          <p:cNvPr id="18" name="Shape 16"/>
          <p:cNvSpPr/>
          <p:nvPr/>
        </p:nvSpPr>
        <p:spPr>
          <a:xfrm>
            <a:off x="3026664" y="4992624"/>
            <a:ext cx="164592" cy="182880"/>
          </a:xfrm>
          <a:prstGeom prst="downArrow">
            <a:avLst/>
          </a:prstGeom>
          <a:solidFill>
            <a:srgbClr val="7C8A94"/>
          </a:solidFill>
          <a:ln/>
        </p:spPr>
        <p:txBody>
          <a:bodyPr/>
          <a:lstStyle/>
          <a:p>
            <a:endParaRPr lang="en-IN"/>
          </a:p>
        </p:txBody>
      </p:sp>
      <p:sp>
        <p:nvSpPr>
          <p:cNvPr id="19" name="Shape 17"/>
          <p:cNvSpPr/>
          <p:nvPr/>
        </p:nvSpPr>
        <p:spPr>
          <a:xfrm>
            <a:off x="1463040" y="5212080"/>
            <a:ext cx="3291840" cy="384048"/>
          </a:xfrm>
          <a:prstGeom prst="roundRect">
            <a:avLst>
              <a:gd name="adj" fmla="val 14286"/>
            </a:avLst>
          </a:prstGeom>
          <a:solidFill>
            <a:srgbClr val="E7ECF0"/>
          </a:solidFill>
          <a:ln/>
        </p:spPr>
        <p:txBody>
          <a:bodyPr/>
          <a:lstStyle/>
          <a:p>
            <a:endParaRPr lang="en-IN"/>
          </a:p>
        </p:txBody>
      </p:sp>
      <p:sp>
        <p:nvSpPr>
          <p:cNvPr id="20" name="Text 18"/>
          <p:cNvSpPr/>
          <p:nvPr/>
        </p:nvSpPr>
        <p:spPr>
          <a:xfrm>
            <a:off x="1508760" y="5212080"/>
            <a:ext cx="3200400" cy="384048"/>
          </a:xfrm>
          <a:prstGeom prst="rect">
            <a:avLst/>
          </a:prstGeom>
          <a:noFill/>
          <a:ln/>
        </p:spPr>
        <p:txBody>
          <a:bodyPr wrap="square" rtlCol="0" anchor="ctr"/>
          <a:lstStyle/>
          <a:p>
            <a:pPr marL="0" indent="0" algn="ctr">
              <a:buNone/>
            </a:pPr>
            <a:r>
              <a:rPr lang="en-US" sz="1050" b="1" dirty="0">
                <a:solidFill>
                  <a:srgbClr val="16324A"/>
                </a:solidFill>
                <a:latin typeface="Calibri" pitchFamily="34" charset="0"/>
                <a:ea typeface="Calibri" pitchFamily="34" charset="-122"/>
                <a:cs typeface="Calibri" pitchFamily="34" charset="-120"/>
              </a:rPr>
              <a:t>Update bank.dat</a:t>
            </a:r>
            <a:endParaRPr lang="en-US" sz="1050" dirty="0"/>
          </a:p>
        </p:txBody>
      </p:sp>
      <p:sp>
        <p:nvSpPr>
          <p:cNvPr id="21" name="Text 19"/>
          <p:cNvSpPr/>
          <p:nvPr/>
        </p:nvSpPr>
        <p:spPr>
          <a:xfrm>
            <a:off x="6492240" y="1143000"/>
            <a:ext cx="5120640" cy="320040"/>
          </a:xfrm>
          <a:prstGeom prst="rect">
            <a:avLst/>
          </a:prstGeom>
          <a:noFill/>
          <a:ln/>
        </p:spPr>
        <p:txBody>
          <a:bodyPr wrap="square" rtlCol="0" anchor="ctr"/>
          <a:lstStyle/>
          <a:p>
            <a:pPr marL="0" indent="0">
              <a:buNone/>
            </a:pPr>
            <a:r>
              <a:rPr lang="en-US" sz="1500" b="1" dirty="0">
                <a:solidFill>
                  <a:srgbClr val="16324A"/>
                </a:solidFill>
                <a:latin typeface="Cambria" pitchFamily="34" charset="0"/>
                <a:ea typeface="Cambria" pitchFamily="34" charset="-122"/>
                <a:cs typeface="Cambria" pitchFamily="34" charset="-120"/>
              </a:rPr>
              <a:t>Working Flow</a:t>
            </a:r>
            <a:endParaRPr lang="en-US" sz="1500" dirty="0"/>
          </a:p>
        </p:txBody>
      </p:sp>
      <p:sp>
        <p:nvSpPr>
          <p:cNvPr id="22" name="Shape 20"/>
          <p:cNvSpPr/>
          <p:nvPr/>
        </p:nvSpPr>
        <p:spPr>
          <a:xfrm>
            <a:off x="7726680" y="1508760"/>
            <a:ext cx="2651760" cy="384048"/>
          </a:xfrm>
          <a:prstGeom prst="roundRect">
            <a:avLst>
              <a:gd name="adj" fmla="val 50000"/>
            </a:avLst>
          </a:prstGeom>
          <a:solidFill>
            <a:srgbClr val="16324A"/>
          </a:solidFill>
          <a:ln/>
        </p:spPr>
        <p:txBody>
          <a:bodyPr/>
          <a:lstStyle/>
          <a:p>
            <a:endParaRPr lang="en-IN"/>
          </a:p>
        </p:txBody>
      </p:sp>
      <p:sp>
        <p:nvSpPr>
          <p:cNvPr id="23" name="Text 21"/>
          <p:cNvSpPr/>
          <p:nvPr/>
        </p:nvSpPr>
        <p:spPr>
          <a:xfrm>
            <a:off x="7726680" y="1508760"/>
            <a:ext cx="2651760" cy="38404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Start</a:t>
            </a:r>
            <a:endParaRPr lang="en-US" sz="1150" dirty="0"/>
          </a:p>
        </p:txBody>
      </p:sp>
      <p:sp>
        <p:nvSpPr>
          <p:cNvPr id="24" name="Shape 22"/>
          <p:cNvSpPr/>
          <p:nvPr/>
        </p:nvSpPr>
        <p:spPr>
          <a:xfrm>
            <a:off x="8988552" y="1911096"/>
            <a:ext cx="128016" cy="118872"/>
          </a:xfrm>
          <a:prstGeom prst="downArrow">
            <a:avLst/>
          </a:prstGeom>
          <a:solidFill>
            <a:srgbClr val="7C8A94"/>
          </a:solidFill>
          <a:ln/>
        </p:spPr>
        <p:txBody>
          <a:bodyPr/>
          <a:lstStyle/>
          <a:p>
            <a:endParaRPr lang="en-IN"/>
          </a:p>
        </p:txBody>
      </p:sp>
      <p:sp>
        <p:nvSpPr>
          <p:cNvPr id="25" name="Shape 23"/>
          <p:cNvSpPr/>
          <p:nvPr/>
        </p:nvSpPr>
        <p:spPr>
          <a:xfrm>
            <a:off x="7726680" y="2066544"/>
            <a:ext cx="2651760" cy="384048"/>
          </a:xfrm>
          <a:prstGeom prst="rect">
            <a:avLst/>
          </a:prstGeom>
          <a:solidFill>
            <a:srgbClr val="F4F7FA"/>
          </a:solidFill>
          <a:ln w="12700">
            <a:solidFill>
              <a:srgbClr val="2E6E9E"/>
            </a:solidFill>
            <a:prstDash val="solid"/>
          </a:ln>
        </p:spPr>
        <p:txBody>
          <a:bodyPr/>
          <a:lstStyle/>
          <a:p>
            <a:endParaRPr lang="en-IN"/>
          </a:p>
        </p:txBody>
      </p:sp>
      <p:sp>
        <p:nvSpPr>
          <p:cNvPr id="26" name="Text 24"/>
          <p:cNvSpPr/>
          <p:nvPr/>
        </p:nvSpPr>
        <p:spPr>
          <a:xfrm>
            <a:off x="7726680" y="2066544"/>
            <a:ext cx="2651760" cy="384048"/>
          </a:xfrm>
          <a:prstGeom prst="rect">
            <a:avLst/>
          </a:prstGeom>
          <a:noFill/>
          <a:ln/>
        </p:spPr>
        <p:txBody>
          <a:bodyPr wrap="square" rtlCol="0" anchor="ctr"/>
          <a:lstStyle/>
          <a:p>
            <a:pPr marL="0" indent="0" algn="ctr">
              <a:buNone/>
            </a:pPr>
            <a:r>
              <a:rPr lang="en-US" sz="1150" dirty="0">
                <a:solidFill>
                  <a:srgbClr val="16324A"/>
                </a:solidFill>
                <a:latin typeface="Calibri" pitchFamily="34" charset="0"/>
                <a:ea typeface="Calibri" pitchFamily="34" charset="-122"/>
                <a:cs typeface="Calibri" pitchFamily="34" charset="-120"/>
              </a:rPr>
              <a:t>Login</a:t>
            </a:r>
            <a:endParaRPr lang="en-US" sz="1150" dirty="0"/>
          </a:p>
        </p:txBody>
      </p:sp>
      <p:sp>
        <p:nvSpPr>
          <p:cNvPr id="27" name="Shape 25"/>
          <p:cNvSpPr/>
          <p:nvPr/>
        </p:nvSpPr>
        <p:spPr>
          <a:xfrm>
            <a:off x="8988552" y="2468880"/>
            <a:ext cx="128016" cy="118872"/>
          </a:xfrm>
          <a:prstGeom prst="downArrow">
            <a:avLst/>
          </a:prstGeom>
          <a:solidFill>
            <a:srgbClr val="7C8A94"/>
          </a:solidFill>
          <a:ln/>
        </p:spPr>
        <p:txBody>
          <a:bodyPr/>
          <a:lstStyle/>
          <a:p>
            <a:endParaRPr lang="en-IN"/>
          </a:p>
        </p:txBody>
      </p:sp>
      <p:sp>
        <p:nvSpPr>
          <p:cNvPr id="28" name="Shape 26"/>
          <p:cNvSpPr/>
          <p:nvPr/>
        </p:nvSpPr>
        <p:spPr>
          <a:xfrm>
            <a:off x="8508492" y="2598166"/>
            <a:ext cx="1088136" cy="502920"/>
          </a:xfrm>
          <a:prstGeom prst="diamond">
            <a:avLst/>
          </a:prstGeom>
          <a:solidFill>
            <a:srgbClr val="4FA3D1"/>
          </a:solidFill>
          <a:ln/>
        </p:spPr>
        <p:txBody>
          <a:bodyPr/>
          <a:lstStyle/>
          <a:p>
            <a:endParaRPr lang="en-IN"/>
          </a:p>
        </p:txBody>
      </p:sp>
      <p:sp>
        <p:nvSpPr>
          <p:cNvPr id="29" name="Text 27"/>
          <p:cNvSpPr/>
          <p:nvPr/>
        </p:nvSpPr>
        <p:spPr>
          <a:xfrm>
            <a:off x="7726680" y="2624328"/>
            <a:ext cx="2651760" cy="5029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Verify PIN</a:t>
            </a:r>
            <a:endParaRPr lang="en-US" sz="1100" dirty="0"/>
          </a:p>
        </p:txBody>
      </p:sp>
      <p:grpSp>
        <p:nvGrpSpPr>
          <p:cNvPr id="51" name="Group 50">
            <a:extLst>
              <a:ext uri="{FF2B5EF4-FFF2-40B4-BE49-F238E27FC236}">
                <a16:creationId xmlns:a16="http://schemas.microsoft.com/office/drawing/2014/main" id="{0A6B4ECF-8386-DE9E-2DDA-D26CA6759598}"/>
              </a:ext>
            </a:extLst>
          </p:cNvPr>
          <p:cNvGrpSpPr/>
          <p:nvPr/>
        </p:nvGrpSpPr>
        <p:grpSpPr>
          <a:xfrm>
            <a:off x="7726680" y="3104388"/>
            <a:ext cx="2651760" cy="1435608"/>
            <a:chOff x="7726680" y="3145536"/>
            <a:chExt cx="2651760" cy="1655064"/>
          </a:xfrm>
        </p:grpSpPr>
        <p:sp>
          <p:nvSpPr>
            <p:cNvPr id="30" name="Shape 28"/>
            <p:cNvSpPr/>
            <p:nvPr/>
          </p:nvSpPr>
          <p:spPr>
            <a:xfrm>
              <a:off x="8988552" y="3145536"/>
              <a:ext cx="128016" cy="118872"/>
            </a:xfrm>
            <a:prstGeom prst="downArrow">
              <a:avLst/>
            </a:prstGeom>
            <a:solidFill>
              <a:srgbClr val="7C8A94"/>
            </a:solidFill>
            <a:ln/>
          </p:spPr>
          <p:txBody>
            <a:bodyPr/>
            <a:lstStyle/>
            <a:p>
              <a:endParaRPr lang="en-IN"/>
            </a:p>
          </p:txBody>
        </p:sp>
        <p:sp>
          <p:nvSpPr>
            <p:cNvPr id="31" name="Shape 29"/>
            <p:cNvSpPr/>
            <p:nvPr/>
          </p:nvSpPr>
          <p:spPr>
            <a:xfrm>
              <a:off x="7726680" y="3300984"/>
              <a:ext cx="2651760" cy="384048"/>
            </a:xfrm>
            <a:prstGeom prst="rect">
              <a:avLst/>
            </a:prstGeom>
            <a:solidFill>
              <a:srgbClr val="F4F7FA"/>
            </a:solidFill>
            <a:ln w="12700">
              <a:solidFill>
                <a:srgbClr val="2E6E9E"/>
              </a:solidFill>
              <a:prstDash val="solid"/>
            </a:ln>
          </p:spPr>
          <p:txBody>
            <a:bodyPr/>
            <a:lstStyle/>
            <a:p>
              <a:endParaRPr lang="en-IN"/>
            </a:p>
          </p:txBody>
        </p:sp>
        <p:sp>
          <p:nvSpPr>
            <p:cNvPr id="32" name="Text 30"/>
            <p:cNvSpPr/>
            <p:nvPr/>
          </p:nvSpPr>
          <p:spPr>
            <a:xfrm>
              <a:off x="7726680" y="3300984"/>
              <a:ext cx="2651760" cy="384048"/>
            </a:xfrm>
            <a:prstGeom prst="rect">
              <a:avLst/>
            </a:prstGeom>
            <a:noFill/>
            <a:ln/>
          </p:spPr>
          <p:txBody>
            <a:bodyPr wrap="square" rtlCol="0" anchor="ctr"/>
            <a:lstStyle/>
            <a:p>
              <a:pPr marL="0" indent="0" algn="ctr">
                <a:buNone/>
              </a:pPr>
              <a:r>
                <a:rPr lang="en-US" sz="1150" dirty="0">
                  <a:solidFill>
                    <a:srgbClr val="16324A"/>
                  </a:solidFill>
                  <a:latin typeface="Calibri" pitchFamily="34" charset="0"/>
                  <a:ea typeface="Calibri" pitchFamily="34" charset="-122"/>
                  <a:cs typeface="Calibri" pitchFamily="34" charset="-120"/>
                </a:rPr>
                <a:t>ATM Menu</a:t>
              </a:r>
              <a:endParaRPr lang="en-US" sz="1150" dirty="0"/>
            </a:p>
          </p:txBody>
        </p:sp>
        <p:sp>
          <p:nvSpPr>
            <p:cNvPr id="33" name="Shape 31"/>
            <p:cNvSpPr/>
            <p:nvPr/>
          </p:nvSpPr>
          <p:spPr>
            <a:xfrm>
              <a:off x="8988552" y="3703320"/>
              <a:ext cx="128016" cy="118872"/>
            </a:xfrm>
            <a:prstGeom prst="downArrow">
              <a:avLst/>
            </a:prstGeom>
            <a:solidFill>
              <a:srgbClr val="7C8A94"/>
            </a:solidFill>
            <a:ln/>
          </p:spPr>
          <p:txBody>
            <a:bodyPr/>
            <a:lstStyle/>
            <a:p>
              <a:endParaRPr lang="en-IN"/>
            </a:p>
          </p:txBody>
        </p:sp>
        <p:sp>
          <p:nvSpPr>
            <p:cNvPr id="34" name="Shape 32"/>
            <p:cNvSpPr/>
            <p:nvPr/>
          </p:nvSpPr>
          <p:spPr>
            <a:xfrm>
              <a:off x="7726680" y="3858768"/>
              <a:ext cx="2651760" cy="384048"/>
            </a:xfrm>
            <a:prstGeom prst="rect">
              <a:avLst/>
            </a:prstGeom>
            <a:solidFill>
              <a:srgbClr val="F4F7FA"/>
            </a:solidFill>
            <a:ln w="12700">
              <a:solidFill>
                <a:srgbClr val="2E6E9E"/>
              </a:solidFill>
              <a:prstDash val="solid"/>
            </a:ln>
          </p:spPr>
          <p:txBody>
            <a:bodyPr/>
            <a:lstStyle/>
            <a:p>
              <a:endParaRPr lang="en-IN"/>
            </a:p>
          </p:txBody>
        </p:sp>
        <p:sp>
          <p:nvSpPr>
            <p:cNvPr id="35" name="Text 33"/>
            <p:cNvSpPr/>
            <p:nvPr/>
          </p:nvSpPr>
          <p:spPr>
            <a:xfrm>
              <a:off x="7726680" y="3858768"/>
              <a:ext cx="2651760" cy="384048"/>
            </a:xfrm>
            <a:prstGeom prst="rect">
              <a:avLst/>
            </a:prstGeom>
            <a:noFill/>
            <a:ln/>
          </p:spPr>
          <p:txBody>
            <a:bodyPr wrap="square" rtlCol="0" anchor="ctr"/>
            <a:lstStyle/>
            <a:p>
              <a:pPr marL="0" indent="0" algn="ctr">
                <a:buNone/>
              </a:pPr>
              <a:r>
                <a:rPr lang="en-US" sz="1150" dirty="0">
                  <a:solidFill>
                    <a:srgbClr val="16324A"/>
                  </a:solidFill>
                  <a:latin typeface="Calibri" pitchFamily="34" charset="0"/>
                  <a:ea typeface="Calibri" pitchFamily="34" charset="-122"/>
                  <a:cs typeface="Calibri" pitchFamily="34" charset="-120"/>
                </a:rPr>
                <a:t>Select Operation</a:t>
              </a:r>
              <a:endParaRPr lang="en-US" sz="1150" dirty="0"/>
            </a:p>
          </p:txBody>
        </p:sp>
        <p:sp>
          <p:nvSpPr>
            <p:cNvPr id="36" name="Shape 34"/>
            <p:cNvSpPr/>
            <p:nvPr/>
          </p:nvSpPr>
          <p:spPr>
            <a:xfrm>
              <a:off x="8988552" y="4261104"/>
              <a:ext cx="128016" cy="118872"/>
            </a:xfrm>
            <a:prstGeom prst="downArrow">
              <a:avLst/>
            </a:prstGeom>
            <a:solidFill>
              <a:srgbClr val="7C8A94"/>
            </a:solidFill>
            <a:ln/>
          </p:spPr>
          <p:txBody>
            <a:bodyPr/>
            <a:lstStyle/>
            <a:p>
              <a:endParaRPr lang="en-IN"/>
            </a:p>
          </p:txBody>
        </p:sp>
        <p:sp>
          <p:nvSpPr>
            <p:cNvPr id="37" name="Shape 35"/>
            <p:cNvSpPr/>
            <p:nvPr/>
          </p:nvSpPr>
          <p:spPr>
            <a:xfrm>
              <a:off x="7726680" y="4416552"/>
              <a:ext cx="2651760" cy="384048"/>
            </a:xfrm>
            <a:prstGeom prst="rect">
              <a:avLst/>
            </a:prstGeom>
            <a:solidFill>
              <a:srgbClr val="F4F7FA"/>
            </a:solidFill>
            <a:ln w="12700">
              <a:solidFill>
                <a:srgbClr val="2E6E9E"/>
              </a:solidFill>
              <a:prstDash val="solid"/>
            </a:ln>
          </p:spPr>
          <p:txBody>
            <a:bodyPr/>
            <a:lstStyle/>
            <a:p>
              <a:endParaRPr lang="en-IN"/>
            </a:p>
          </p:txBody>
        </p:sp>
        <p:sp>
          <p:nvSpPr>
            <p:cNvPr id="38" name="Text 36"/>
            <p:cNvSpPr/>
            <p:nvPr/>
          </p:nvSpPr>
          <p:spPr>
            <a:xfrm>
              <a:off x="7726680" y="4416552"/>
              <a:ext cx="2651760" cy="384048"/>
            </a:xfrm>
            <a:prstGeom prst="rect">
              <a:avLst/>
            </a:prstGeom>
            <a:noFill/>
            <a:ln/>
          </p:spPr>
          <p:txBody>
            <a:bodyPr wrap="square" rtlCol="0" anchor="ctr"/>
            <a:lstStyle/>
            <a:p>
              <a:pPr marL="0" indent="0" algn="ctr">
                <a:buNone/>
              </a:pPr>
              <a:r>
                <a:rPr lang="en-US" sz="1150" dirty="0">
                  <a:solidFill>
                    <a:srgbClr val="16324A"/>
                  </a:solidFill>
                  <a:latin typeface="Calibri" pitchFamily="34" charset="0"/>
                  <a:ea typeface="Calibri" pitchFamily="34" charset="-122"/>
                  <a:cs typeface="Calibri" pitchFamily="34" charset="-120"/>
                </a:rPr>
                <a:t>Update Data</a:t>
              </a:r>
              <a:endParaRPr lang="en-US" sz="1150" dirty="0"/>
            </a:p>
          </p:txBody>
        </p:sp>
      </p:grpSp>
      <p:sp>
        <p:nvSpPr>
          <p:cNvPr id="39" name="Shape 37"/>
          <p:cNvSpPr/>
          <p:nvPr/>
        </p:nvSpPr>
        <p:spPr>
          <a:xfrm>
            <a:off x="8988552" y="4604635"/>
            <a:ext cx="128016" cy="109097"/>
          </a:xfrm>
          <a:prstGeom prst="downArrow">
            <a:avLst/>
          </a:prstGeom>
          <a:solidFill>
            <a:srgbClr val="7C8A94"/>
          </a:solidFill>
          <a:ln/>
        </p:spPr>
        <p:txBody>
          <a:bodyPr/>
          <a:lstStyle/>
          <a:p>
            <a:endParaRPr lang="en-IN"/>
          </a:p>
        </p:txBody>
      </p:sp>
      <p:grpSp>
        <p:nvGrpSpPr>
          <p:cNvPr id="48" name="Group 47">
            <a:extLst>
              <a:ext uri="{FF2B5EF4-FFF2-40B4-BE49-F238E27FC236}">
                <a16:creationId xmlns:a16="http://schemas.microsoft.com/office/drawing/2014/main" id="{D2413DB3-C664-7009-5E75-7FAEA395175F}"/>
              </a:ext>
            </a:extLst>
          </p:cNvPr>
          <p:cNvGrpSpPr/>
          <p:nvPr/>
        </p:nvGrpSpPr>
        <p:grpSpPr>
          <a:xfrm>
            <a:off x="7726680" y="5072380"/>
            <a:ext cx="2651760" cy="941832"/>
            <a:chOff x="7726680" y="4974336"/>
            <a:chExt cx="2651760" cy="941832"/>
          </a:xfrm>
        </p:grpSpPr>
        <p:sp>
          <p:nvSpPr>
            <p:cNvPr id="40" name="Shape 38"/>
            <p:cNvSpPr/>
            <p:nvPr/>
          </p:nvSpPr>
          <p:spPr>
            <a:xfrm>
              <a:off x="7726680" y="4974336"/>
              <a:ext cx="2651760" cy="384048"/>
            </a:xfrm>
            <a:prstGeom prst="rect">
              <a:avLst/>
            </a:prstGeom>
            <a:solidFill>
              <a:srgbClr val="F4F7FA"/>
            </a:solidFill>
            <a:ln w="12700">
              <a:solidFill>
                <a:srgbClr val="2E6E9E"/>
              </a:solidFill>
              <a:prstDash val="solid"/>
            </a:ln>
          </p:spPr>
          <p:txBody>
            <a:bodyPr/>
            <a:lstStyle/>
            <a:p>
              <a:endParaRPr lang="en-IN"/>
            </a:p>
          </p:txBody>
        </p:sp>
        <p:sp>
          <p:nvSpPr>
            <p:cNvPr id="41" name="Text 39"/>
            <p:cNvSpPr/>
            <p:nvPr/>
          </p:nvSpPr>
          <p:spPr>
            <a:xfrm>
              <a:off x="7726680" y="4974336"/>
              <a:ext cx="2651760" cy="384048"/>
            </a:xfrm>
            <a:prstGeom prst="rect">
              <a:avLst/>
            </a:prstGeom>
            <a:noFill/>
            <a:ln/>
          </p:spPr>
          <p:txBody>
            <a:bodyPr wrap="square" rtlCol="0" anchor="ctr"/>
            <a:lstStyle/>
            <a:p>
              <a:pPr marL="0" indent="0" algn="ctr">
                <a:buNone/>
              </a:pPr>
              <a:r>
                <a:rPr lang="en-US" sz="1150" dirty="0">
                  <a:solidFill>
                    <a:srgbClr val="16324A"/>
                  </a:solidFill>
                  <a:latin typeface="Calibri" pitchFamily="34" charset="0"/>
                  <a:ea typeface="Calibri" pitchFamily="34" charset="-122"/>
                  <a:cs typeface="Calibri" pitchFamily="34" charset="-120"/>
                </a:rPr>
                <a:t>Logout</a:t>
              </a:r>
              <a:endParaRPr lang="en-US" sz="1150" dirty="0"/>
            </a:p>
          </p:txBody>
        </p:sp>
        <p:sp>
          <p:nvSpPr>
            <p:cNvPr id="42" name="Shape 40"/>
            <p:cNvSpPr/>
            <p:nvPr/>
          </p:nvSpPr>
          <p:spPr>
            <a:xfrm>
              <a:off x="8988552" y="5376672"/>
              <a:ext cx="128016" cy="118872"/>
            </a:xfrm>
            <a:prstGeom prst="downArrow">
              <a:avLst/>
            </a:prstGeom>
            <a:solidFill>
              <a:srgbClr val="7C8A94"/>
            </a:solidFill>
            <a:ln/>
          </p:spPr>
          <p:txBody>
            <a:bodyPr/>
            <a:lstStyle/>
            <a:p>
              <a:endParaRPr lang="en-IN"/>
            </a:p>
          </p:txBody>
        </p:sp>
        <p:sp>
          <p:nvSpPr>
            <p:cNvPr id="43" name="Shape 41"/>
            <p:cNvSpPr/>
            <p:nvPr/>
          </p:nvSpPr>
          <p:spPr>
            <a:xfrm>
              <a:off x="7726680" y="5532120"/>
              <a:ext cx="2651760" cy="384048"/>
            </a:xfrm>
            <a:prstGeom prst="roundRect">
              <a:avLst>
                <a:gd name="adj" fmla="val 50000"/>
              </a:avLst>
            </a:prstGeom>
            <a:solidFill>
              <a:srgbClr val="16324A"/>
            </a:solidFill>
            <a:ln/>
          </p:spPr>
          <p:txBody>
            <a:bodyPr/>
            <a:lstStyle/>
            <a:p>
              <a:endParaRPr lang="en-IN"/>
            </a:p>
          </p:txBody>
        </p:sp>
        <p:sp>
          <p:nvSpPr>
            <p:cNvPr id="44" name="Text 42"/>
            <p:cNvSpPr/>
            <p:nvPr/>
          </p:nvSpPr>
          <p:spPr>
            <a:xfrm>
              <a:off x="7726680" y="5532120"/>
              <a:ext cx="2651760" cy="38404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End</a:t>
              </a:r>
              <a:endParaRPr lang="en-US" sz="1150" dirty="0"/>
            </a:p>
          </p:txBody>
        </p:sp>
      </p:grpSp>
      <p:sp>
        <p:nvSpPr>
          <p:cNvPr id="45" name="Text 43"/>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7C8A94"/>
                </a:solidFill>
                <a:latin typeface="Calibri" pitchFamily="34" charset="0"/>
                <a:ea typeface="Calibri" pitchFamily="34" charset="-122"/>
                <a:cs typeface="Calibri" pitchFamily="34" charset="-120"/>
              </a:rPr>
              <a:t>ATM Banking System — C Programming Mini Project</a:t>
            </a:r>
            <a:endParaRPr lang="en-US" sz="900" dirty="0"/>
          </a:p>
        </p:txBody>
      </p:sp>
      <p:sp>
        <p:nvSpPr>
          <p:cNvPr id="46" name="Text 44"/>
          <p:cNvSpPr/>
          <p:nvPr/>
        </p:nvSpPr>
        <p:spPr>
          <a:xfrm>
            <a:off x="11274552" y="6510528"/>
            <a:ext cx="457200" cy="274320"/>
          </a:xfrm>
          <a:prstGeom prst="rect">
            <a:avLst/>
          </a:prstGeom>
          <a:noFill/>
          <a:ln/>
        </p:spPr>
        <p:txBody>
          <a:bodyPr wrap="square" rtlCol="0" anchor="ctr"/>
          <a:lstStyle/>
          <a:p>
            <a:pPr marL="0" indent="0" algn="r">
              <a:buNone/>
            </a:pPr>
            <a:r>
              <a:rPr lang="en-US" sz="900" dirty="0">
                <a:solidFill>
                  <a:srgbClr val="7C8A94"/>
                </a:solidFill>
                <a:latin typeface="Calibri" pitchFamily="34" charset="0"/>
                <a:ea typeface="Calibri" pitchFamily="34" charset="-122"/>
                <a:cs typeface="Calibri" pitchFamily="34" charset="-120"/>
              </a:rPr>
              <a:t>4</a:t>
            </a:r>
            <a:endParaRPr lang="en-US" sz="900" dirty="0"/>
          </a:p>
        </p:txBody>
      </p:sp>
      <p:sp>
        <p:nvSpPr>
          <p:cNvPr id="50" name="Shape 26">
            <a:extLst>
              <a:ext uri="{FF2B5EF4-FFF2-40B4-BE49-F238E27FC236}">
                <a16:creationId xmlns:a16="http://schemas.microsoft.com/office/drawing/2014/main" id="{20DFD928-471F-4AA1-80E6-767A4AEAFCCF}"/>
              </a:ext>
            </a:extLst>
          </p:cNvPr>
          <p:cNvSpPr/>
          <p:nvPr/>
        </p:nvSpPr>
        <p:spPr>
          <a:xfrm>
            <a:off x="8339582" y="4725162"/>
            <a:ext cx="1425956" cy="256032"/>
          </a:xfrm>
          <a:prstGeom prst="diamond">
            <a:avLst/>
          </a:prstGeom>
          <a:solidFill>
            <a:srgbClr val="4FA3D1"/>
          </a:solidFill>
          <a:ln>
            <a:noFill/>
          </a:ln>
        </p:spPr>
        <p:txBody>
          <a:bodyPr/>
          <a:lstStyle/>
          <a:p>
            <a:endParaRPr lang="en-IN" dirty="0"/>
          </a:p>
        </p:txBody>
      </p:sp>
      <p:sp>
        <p:nvSpPr>
          <p:cNvPr id="53" name="Shape 37">
            <a:extLst>
              <a:ext uri="{FF2B5EF4-FFF2-40B4-BE49-F238E27FC236}">
                <a16:creationId xmlns:a16="http://schemas.microsoft.com/office/drawing/2014/main" id="{6C6B5208-E1C9-B82D-D941-BA0BBF1ABECD}"/>
              </a:ext>
            </a:extLst>
          </p:cNvPr>
          <p:cNvSpPr/>
          <p:nvPr/>
        </p:nvSpPr>
        <p:spPr>
          <a:xfrm>
            <a:off x="9000746" y="4981194"/>
            <a:ext cx="128016" cy="109097"/>
          </a:xfrm>
          <a:prstGeom prst="downArrow">
            <a:avLst/>
          </a:prstGeom>
          <a:solidFill>
            <a:srgbClr val="7C8A94"/>
          </a:solidFill>
          <a:ln/>
        </p:spPr>
        <p:txBody>
          <a:bodyPr/>
          <a:lstStyle/>
          <a:p>
            <a:endParaRPr lang="en-IN"/>
          </a:p>
        </p:txBody>
      </p:sp>
      <p:sp>
        <p:nvSpPr>
          <p:cNvPr id="54" name="Rectangle 53">
            <a:extLst>
              <a:ext uri="{FF2B5EF4-FFF2-40B4-BE49-F238E27FC236}">
                <a16:creationId xmlns:a16="http://schemas.microsoft.com/office/drawing/2014/main" id="{90796618-EB4B-7925-5909-905FE5BF0C13}"/>
              </a:ext>
            </a:extLst>
          </p:cNvPr>
          <p:cNvSpPr/>
          <p:nvPr/>
        </p:nvSpPr>
        <p:spPr>
          <a:xfrm>
            <a:off x="8779004" y="4819523"/>
            <a:ext cx="571500" cy="10439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b="1" dirty="0"/>
              <a:t>Continue?</a:t>
            </a:r>
          </a:p>
        </p:txBody>
      </p:sp>
      <p:sp>
        <p:nvSpPr>
          <p:cNvPr id="57" name="Arrow: Bent 56">
            <a:extLst>
              <a:ext uri="{FF2B5EF4-FFF2-40B4-BE49-F238E27FC236}">
                <a16:creationId xmlns:a16="http://schemas.microsoft.com/office/drawing/2014/main" id="{FDA50BB8-EE4C-59BF-37D3-1002FC059DA2}"/>
              </a:ext>
            </a:extLst>
          </p:cNvPr>
          <p:cNvSpPr/>
          <p:nvPr/>
        </p:nvSpPr>
        <p:spPr>
          <a:xfrm>
            <a:off x="7447284" y="3363004"/>
            <a:ext cx="164592" cy="1460500"/>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8" name="Rectangle 57">
            <a:extLst>
              <a:ext uri="{FF2B5EF4-FFF2-40B4-BE49-F238E27FC236}">
                <a16:creationId xmlns:a16="http://schemas.microsoft.com/office/drawing/2014/main" id="{A8841919-C1CA-8AEE-05FB-5E378CD38DE7}"/>
              </a:ext>
            </a:extLst>
          </p:cNvPr>
          <p:cNvSpPr/>
          <p:nvPr/>
        </p:nvSpPr>
        <p:spPr>
          <a:xfrm>
            <a:off x="7447284" y="4823504"/>
            <a:ext cx="892298"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Rectangle 59">
            <a:extLst>
              <a:ext uri="{FF2B5EF4-FFF2-40B4-BE49-F238E27FC236}">
                <a16:creationId xmlns:a16="http://schemas.microsoft.com/office/drawing/2014/main" id="{88F15AFE-02F9-A10C-D464-64EAAFB165E5}"/>
              </a:ext>
            </a:extLst>
          </p:cNvPr>
          <p:cNvSpPr/>
          <p:nvPr/>
        </p:nvSpPr>
        <p:spPr>
          <a:xfrm>
            <a:off x="8668004" y="4962906"/>
            <a:ext cx="571500" cy="10439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600" b="1" dirty="0">
                <a:solidFill>
                  <a:schemeClr val="tx1"/>
                </a:solidFill>
              </a:rPr>
              <a:t>NO</a:t>
            </a:r>
            <a:r>
              <a:rPr lang="en-IN" sz="600" b="1" dirty="0"/>
              <a:t>?</a:t>
            </a:r>
          </a:p>
        </p:txBody>
      </p:sp>
      <p:sp>
        <p:nvSpPr>
          <p:cNvPr id="62" name="Rectangle 61">
            <a:extLst>
              <a:ext uri="{FF2B5EF4-FFF2-40B4-BE49-F238E27FC236}">
                <a16:creationId xmlns:a16="http://schemas.microsoft.com/office/drawing/2014/main" id="{EB833A2B-4A98-8A5E-8D98-81329683141D}"/>
              </a:ext>
            </a:extLst>
          </p:cNvPr>
          <p:cNvSpPr/>
          <p:nvPr/>
        </p:nvSpPr>
        <p:spPr>
          <a:xfrm>
            <a:off x="7611876" y="4684776"/>
            <a:ext cx="571500" cy="10439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700" b="1" dirty="0">
                <a:solidFill>
                  <a:schemeClr val="tx1"/>
                </a:solidFill>
              </a:rPr>
              <a:t>Yes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16324A"/>
                </a:solidFill>
                <a:latin typeface="Cambria" pitchFamily="34" charset="0"/>
                <a:ea typeface="Cambria" pitchFamily="34" charset="-122"/>
                <a:cs typeface="Cambria" pitchFamily="34" charset="-120"/>
              </a:rPr>
              <a:t>Features &amp; Test cases</a:t>
            </a:r>
            <a:endParaRPr lang="en-US" sz="3000" dirty="0"/>
          </a:p>
        </p:txBody>
      </p:sp>
      <p:grpSp>
        <p:nvGrpSpPr>
          <p:cNvPr id="62" name="Group 61">
            <a:extLst>
              <a:ext uri="{FF2B5EF4-FFF2-40B4-BE49-F238E27FC236}">
                <a16:creationId xmlns:a16="http://schemas.microsoft.com/office/drawing/2014/main" id="{1F00CDCC-D550-2354-141F-2BA2F9643FCB}"/>
              </a:ext>
            </a:extLst>
          </p:cNvPr>
          <p:cNvGrpSpPr/>
          <p:nvPr/>
        </p:nvGrpSpPr>
        <p:grpSpPr>
          <a:xfrm>
            <a:off x="683393" y="1270535"/>
            <a:ext cx="6121667" cy="4041694"/>
            <a:chOff x="548640" y="1143000"/>
            <a:chExt cx="4590288" cy="2660904"/>
          </a:xfrm>
        </p:grpSpPr>
        <p:sp>
          <p:nvSpPr>
            <p:cNvPr id="3" name="Text 1"/>
            <p:cNvSpPr/>
            <p:nvPr/>
          </p:nvSpPr>
          <p:spPr>
            <a:xfrm>
              <a:off x="548640" y="1143000"/>
              <a:ext cx="4206240" cy="320040"/>
            </a:xfrm>
            <a:prstGeom prst="rect">
              <a:avLst/>
            </a:prstGeom>
            <a:noFill/>
            <a:ln/>
          </p:spPr>
          <p:txBody>
            <a:bodyPr wrap="square" rtlCol="0" anchor="ctr"/>
            <a:lstStyle/>
            <a:p>
              <a:pPr marL="0" indent="0">
                <a:buNone/>
              </a:pPr>
              <a:r>
                <a:rPr lang="en-US" sz="1600" b="1" dirty="0">
                  <a:solidFill>
                    <a:srgbClr val="16324A"/>
                  </a:solidFill>
                  <a:latin typeface="Cambria" pitchFamily="34" charset="0"/>
                  <a:ea typeface="Cambria" pitchFamily="34" charset="-122"/>
                  <a:cs typeface="Cambria" pitchFamily="34" charset="-120"/>
                </a:rPr>
                <a:t>Features</a:t>
              </a:r>
              <a:endParaRPr lang="en-US" sz="1600" dirty="0"/>
            </a:p>
          </p:txBody>
        </p:sp>
        <p:sp>
          <p:nvSpPr>
            <p:cNvPr id="4" name="Shape 2"/>
            <p:cNvSpPr/>
            <p:nvPr/>
          </p:nvSpPr>
          <p:spPr>
            <a:xfrm>
              <a:off x="548640" y="1554480"/>
              <a:ext cx="384048" cy="384048"/>
            </a:xfrm>
            <a:prstGeom prst="ellipse">
              <a:avLst/>
            </a:prstGeom>
            <a:solidFill>
              <a:srgbClr val="2E6E9E"/>
            </a:solidFill>
            <a:ln/>
          </p:spPr>
          <p:txBody>
            <a:bodyPr/>
            <a:lstStyle/>
            <a:p>
              <a:endParaRPr lang="en-IN"/>
            </a:p>
          </p:txBody>
        </p:sp>
        <p:pic>
          <p:nvPicPr>
            <p:cNvPr id="5" name="Image 0" descr="preencoded.png"/>
            <p:cNvPicPr>
              <a:picLocks noChangeAspect="1"/>
            </p:cNvPicPr>
            <p:nvPr/>
          </p:nvPicPr>
          <p:blipFill>
            <a:blip r:embed="rId3"/>
            <a:stretch>
              <a:fillRect/>
            </a:stretch>
          </p:blipFill>
          <p:spPr>
            <a:xfrm>
              <a:off x="635051" y="1640891"/>
              <a:ext cx="211226" cy="211226"/>
            </a:xfrm>
            <a:prstGeom prst="rect">
              <a:avLst/>
            </a:prstGeom>
          </p:spPr>
        </p:pic>
        <p:sp>
          <p:nvSpPr>
            <p:cNvPr id="6" name="Text 3"/>
            <p:cNvSpPr/>
            <p:nvPr/>
          </p:nvSpPr>
          <p:spPr>
            <a:xfrm>
              <a:off x="1024128" y="1554480"/>
              <a:ext cx="1783080" cy="384048"/>
            </a:xfrm>
            <a:prstGeom prst="rect">
              <a:avLst/>
            </a:prstGeom>
            <a:noFill/>
            <a:ln/>
          </p:spPr>
          <p:txBody>
            <a:bodyPr wrap="square" rtlCol="0" anchor="ctr"/>
            <a:lstStyle/>
            <a:p>
              <a:pPr marL="0" indent="0">
                <a:buNone/>
              </a:pPr>
              <a:r>
                <a:rPr lang="en-US" sz="1150" b="1" dirty="0">
                  <a:solidFill>
                    <a:srgbClr val="16324A"/>
                  </a:solidFill>
                  <a:latin typeface="Calibri" pitchFamily="34" charset="0"/>
                  <a:ea typeface="Calibri" pitchFamily="34" charset="-122"/>
                  <a:cs typeface="Calibri" pitchFamily="34" charset="-120"/>
                </a:rPr>
                <a:t>Secure Login</a:t>
              </a:r>
              <a:endParaRPr lang="en-US" sz="1150" dirty="0"/>
            </a:p>
          </p:txBody>
        </p:sp>
        <p:sp>
          <p:nvSpPr>
            <p:cNvPr id="7" name="Shape 4"/>
            <p:cNvSpPr/>
            <p:nvPr/>
          </p:nvSpPr>
          <p:spPr>
            <a:xfrm>
              <a:off x="2880360" y="1554480"/>
              <a:ext cx="384048" cy="384048"/>
            </a:xfrm>
            <a:prstGeom prst="ellipse">
              <a:avLst/>
            </a:prstGeom>
            <a:solidFill>
              <a:srgbClr val="2E6E9E"/>
            </a:solidFill>
            <a:ln/>
          </p:spPr>
          <p:txBody>
            <a:bodyPr/>
            <a:lstStyle/>
            <a:p>
              <a:endParaRPr lang="en-IN"/>
            </a:p>
          </p:txBody>
        </p:sp>
        <p:pic>
          <p:nvPicPr>
            <p:cNvPr id="8" name="Image 1" descr="preencoded.png"/>
            <p:cNvPicPr>
              <a:picLocks noChangeAspect="1"/>
            </p:cNvPicPr>
            <p:nvPr/>
          </p:nvPicPr>
          <p:blipFill>
            <a:blip r:embed="rId4"/>
            <a:stretch>
              <a:fillRect/>
            </a:stretch>
          </p:blipFill>
          <p:spPr>
            <a:xfrm>
              <a:off x="2966771" y="1640891"/>
              <a:ext cx="211226" cy="211226"/>
            </a:xfrm>
            <a:prstGeom prst="rect">
              <a:avLst/>
            </a:prstGeom>
          </p:spPr>
        </p:pic>
        <p:sp>
          <p:nvSpPr>
            <p:cNvPr id="9" name="Text 5"/>
            <p:cNvSpPr/>
            <p:nvPr/>
          </p:nvSpPr>
          <p:spPr>
            <a:xfrm>
              <a:off x="3355848" y="1554480"/>
              <a:ext cx="1783080" cy="384048"/>
            </a:xfrm>
            <a:prstGeom prst="rect">
              <a:avLst/>
            </a:prstGeom>
            <a:noFill/>
            <a:ln/>
          </p:spPr>
          <p:txBody>
            <a:bodyPr wrap="square" rtlCol="0" anchor="ctr"/>
            <a:lstStyle/>
            <a:p>
              <a:pPr marL="0" indent="0">
                <a:buNone/>
              </a:pPr>
              <a:r>
                <a:rPr lang="en-US" sz="1150" b="1" dirty="0">
                  <a:solidFill>
                    <a:srgbClr val="16324A"/>
                  </a:solidFill>
                  <a:latin typeface="Calibri" pitchFamily="34" charset="0"/>
                  <a:ea typeface="Calibri" pitchFamily="34" charset="-122"/>
                  <a:cs typeface="Calibri" pitchFamily="34" charset="-120"/>
                </a:rPr>
                <a:t>Balance Inquiry</a:t>
              </a:r>
              <a:endParaRPr lang="en-US" sz="1150" dirty="0"/>
            </a:p>
          </p:txBody>
        </p:sp>
        <p:sp>
          <p:nvSpPr>
            <p:cNvPr id="10" name="Shape 6"/>
            <p:cNvSpPr/>
            <p:nvPr/>
          </p:nvSpPr>
          <p:spPr>
            <a:xfrm>
              <a:off x="548640" y="2176272"/>
              <a:ext cx="384048" cy="384048"/>
            </a:xfrm>
            <a:prstGeom prst="ellipse">
              <a:avLst/>
            </a:prstGeom>
            <a:solidFill>
              <a:srgbClr val="2E6E9E"/>
            </a:solidFill>
            <a:ln/>
          </p:spPr>
          <p:txBody>
            <a:bodyPr/>
            <a:lstStyle/>
            <a:p>
              <a:endParaRPr lang="en-IN"/>
            </a:p>
          </p:txBody>
        </p:sp>
        <p:pic>
          <p:nvPicPr>
            <p:cNvPr id="11" name="Image 2" descr="preencoded.png"/>
            <p:cNvPicPr>
              <a:picLocks noChangeAspect="1"/>
            </p:cNvPicPr>
            <p:nvPr/>
          </p:nvPicPr>
          <p:blipFill>
            <a:blip r:embed="rId5"/>
            <a:stretch>
              <a:fillRect/>
            </a:stretch>
          </p:blipFill>
          <p:spPr>
            <a:xfrm>
              <a:off x="635051" y="2262683"/>
              <a:ext cx="211226" cy="211226"/>
            </a:xfrm>
            <a:prstGeom prst="rect">
              <a:avLst/>
            </a:prstGeom>
          </p:spPr>
        </p:pic>
        <p:sp>
          <p:nvSpPr>
            <p:cNvPr id="12" name="Text 7"/>
            <p:cNvSpPr/>
            <p:nvPr/>
          </p:nvSpPr>
          <p:spPr>
            <a:xfrm>
              <a:off x="1024128" y="2176272"/>
              <a:ext cx="1783080" cy="384048"/>
            </a:xfrm>
            <a:prstGeom prst="rect">
              <a:avLst/>
            </a:prstGeom>
            <a:noFill/>
            <a:ln/>
          </p:spPr>
          <p:txBody>
            <a:bodyPr wrap="square" rtlCol="0" anchor="ctr"/>
            <a:lstStyle/>
            <a:p>
              <a:pPr marL="0" indent="0">
                <a:buNone/>
              </a:pPr>
              <a:r>
                <a:rPr lang="en-US" sz="1150" b="1" dirty="0">
                  <a:solidFill>
                    <a:srgbClr val="16324A"/>
                  </a:solidFill>
                  <a:latin typeface="Calibri" pitchFamily="34" charset="0"/>
                  <a:ea typeface="Calibri" pitchFamily="34" charset="-122"/>
                  <a:cs typeface="Calibri" pitchFamily="34" charset="-120"/>
                </a:rPr>
                <a:t>Deposit Money</a:t>
              </a:r>
              <a:endParaRPr lang="en-US" sz="1150" dirty="0"/>
            </a:p>
          </p:txBody>
        </p:sp>
        <p:sp>
          <p:nvSpPr>
            <p:cNvPr id="13" name="Shape 8"/>
            <p:cNvSpPr/>
            <p:nvPr/>
          </p:nvSpPr>
          <p:spPr>
            <a:xfrm>
              <a:off x="2880360" y="2176272"/>
              <a:ext cx="384048" cy="384048"/>
            </a:xfrm>
            <a:prstGeom prst="ellipse">
              <a:avLst/>
            </a:prstGeom>
            <a:solidFill>
              <a:srgbClr val="2E6E9E"/>
            </a:solidFill>
            <a:ln/>
          </p:spPr>
          <p:txBody>
            <a:bodyPr/>
            <a:lstStyle/>
            <a:p>
              <a:endParaRPr lang="en-IN"/>
            </a:p>
          </p:txBody>
        </p:sp>
        <p:pic>
          <p:nvPicPr>
            <p:cNvPr id="14" name="Image 3" descr="preencoded.png"/>
            <p:cNvPicPr>
              <a:picLocks noChangeAspect="1"/>
            </p:cNvPicPr>
            <p:nvPr/>
          </p:nvPicPr>
          <p:blipFill>
            <a:blip r:embed="rId6"/>
            <a:stretch>
              <a:fillRect/>
            </a:stretch>
          </p:blipFill>
          <p:spPr>
            <a:xfrm>
              <a:off x="2966771" y="2262683"/>
              <a:ext cx="211226" cy="211226"/>
            </a:xfrm>
            <a:prstGeom prst="rect">
              <a:avLst/>
            </a:prstGeom>
          </p:spPr>
        </p:pic>
        <p:sp>
          <p:nvSpPr>
            <p:cNvPr id="15" name="Text 9"/>
            <p:cNvSpPr/>
            <p:nvPr/>
          </p:nvSpPr>
          <p:spPr>
            <a:xfrm>
              <a:off x="3355848" y="2176272"/>
              <a:ext cx="1783080" cy="384048"/>
            </a:xfrm>
            <a:prstGeom prst="rect">
              <a:avLst/>
            </a:prstGeom>
            <a:noFill/>
            <a:ln/>
          </p:spPr>
          <p:txBody>
            <a:bodyPr wrap="square" rtlCol="0" anchor="ctr"/>
            <a:lstStyle/>
            <a:p>
              <a:pPr marL="0" indent="0">
                <a:buNone/>
              </a:pPr>
              <a:r>
                <a:rPr lang="en-US" sz="1150" b="1" dirty="0">
                  <a:solidFill>
                    <a:srgbClr val="16324A"/>
                  </a:solidFill>
                  <a:latin typeface="Calibri" pitchFamily="34" charset="0"/>
                  <a:ea typeface="Calibri" pitchFamily="34" charset="-122"/>
                  <a:cs typeface="Calibri" pitchFamily="34" charset="-120"/>
                </a:rPr>
                <a:t>Withdraw Money</a:t>
              </a:r>
              <a:endParaRPr lang="en-US" sz="1150" dirty="0"/>
            </a:p>
          </p:txBody>
        </p:sp>
        <p:sp>
          <p:nvSpPr>
            <p:cNvPr id="16" name="Shape 10"/>
            <p:cNvSpPr/>
            <p:nvPr/>
          </p:nvSpPr>
          <p:spPr>
            <a:xfrm>
              <a:off x="548640" y="2798064"/>
              <a:ext cx="384048" cy="384048"/>
            </a:xfrm>
            <a:prstGeom prst="ellipse">
              <a:avLst/>
            </a:prstGeom>
            <a:solidFill>
              <a:srgbClr val="2E6E9E"/>
            </a:solidFill>
            <a:ln/>
          </p:spPr>
          <p:txBody>
            <a:bodyPr/>
            <a:lstStyle/>
            <a:p>
              <a:endParaRPr lang="en-IN"/>
            </a:p>
          </p:txBody>
        </p:sp>
        <p:pic>
          <p:nvPicPr>
            <p:cNvPr id="17" name="Image 4" descr="preencoded.png"/>
            <p:cNvPicPr>
              <a:picLocks noChangeAspect="1"/>
            </p:cNvPicPr>
            <p:nvPr/>
          </p:nvPicPr>
          <p:blipFill>
            <a:blip r:embed="rId7"/>
            <a:stretch>
              <a:fillRect/>
            </a:stretch>
          </p:blipFill>
          <p:spPr>
            <a:xfrm>
              <a:off x="635051" y="2884475"/>
              <a:ext cx="211226" cy="211226"/>
            </a:xfrm>
            <a:prstGeom prst="rect">
              <a:avLst/>
            </a:prstGeom>
          </p:spPr>
        </p:pic>
        <p:sp>
          <p:nvSpPr>
            <p:cNvPr id="18" name="Text 11"/>
            <p:cNvSpPr/>
            <p:nvPr/>
          </p:nvSpPr>
          <p:spPr>
            <a:xfrm>
              <a:off x="1024128" y="2798064"/>
              <a:ext cx="1783080" cy="384048"/>
            </a:xfrm>
            <a:prstGeom prst="rect">
              <a:avLst/>
            </a:prstGeom>
            <a:noFill/>
            <a:ln/>
          </p:spPr>
          <p:txBody>
            <a:bodyPr wrap="square" rtlCol="0" anchor="ctr"/>
            <a:lstStyle/>
            <a:p>
              <a:pPr marL="0" indent="0">
                <a:buNone/>
              </a:pPr>
              <a:r>
                <a:rPr lang="en-US" sz="1150" b="1" dirty="0">
                  <a:solidFill>
                    <a:srgbClr val="16324A"/>
                  </a:solidFill>
                  <a:latin typeface="Calibri" pitchFamily="34" charset="0"/>
                  <a:ea typeface="Calibri" pitchFamily="34" charset="-122"/>
                  <a:cs typeface="Calibri" pitchFamily="34" charset="-120"/>
                </a:rPr>
                <a:t>Transfer Money</a:t>
              </a:r>
              <a:endParaRPr lang="en-US" sz="1150" dirty="0"/>
            </a:p>
          </p:txBody>
        </p:sp>
        <p:sp>
          <p:nvSpPr>
            <p:cNvPr id="19" name="Shape 12"/>
            <p:cNvSpPr/>
            <p:nvPr/>
          </p:nvSpPr>
          <p:spPr>
            <a:xfrm>
              <a:off x="2880360" y="2798064"/>
              <a:ext cx="384048" cy="384048"/>
            </a:xfrm>
            <a:prstGeom prst="ellipse">
              <a:avLst/>
            </a:prstGeom>
            <a:solidFill>
              <a:srgbClr val="2E6E9E"/>
            </a:solidFill>
            <a:ln/>
          </p:spPr>
          <p:txBody>
            <a:bodyPr/>
            <a:lstStyle/>
            <a:p>
              <a:endParaRPr lang="en-IN"/>
            </a:p>
          </p:txBody>
        </p:sp>
        <p:pic>
          <p:nvPicPr>
            <p:cNvPr id="20" name="Image 5" descr="preencoded.png"/>
            <p:cNvPicPr>
              <a:picLocks noChangeAspect="1"/>
            </p:cNvPicPr>
            <p:nvPr/>
          </p:nvPicPr>
          <p:blipFill>
            <a:blip r:embed="rId8"/>
            <a:stretch>
              <a:fillRect/>
            </a:stretch>
          </p:blipFill>
          <p:spPr>
            <a:xfrm>
              <a:off x="2966771" y="2884475"/>
              <a:ext cx="211226" cy="211226"/>
            </a:xfrm>
            <a:prstGeom prst="rect">
              <a:avLst/>
            </a:prstGeom>
          </p:spPr>
        </p:pic>
        <p:sp>
          <p:nvSpPr>
            <p:cNvPr id="21" name="Text 13"/>
            <p:cNvSpPr/>
            <p:nvPr/>
          </p:nvSpPr>
          <p:spPr>
            <a:xfrm>
              <a:off x="3355848" y="2798064"/>
              <a:ext cx="1783080" cy="384048"/>
            </a:xfrm>
            <a:prstGeom prst="rect">
              <a:avLst/>
            </a:prstGeom>
            <a:noFill/>
            <a:ln/>
          </p:spPr>
          <p:txBody>
            <a:bodyPr wrap="square" rtlCol="0" anchor="ctr"/>
            <a:lstStyle/>
            <a:p>
              <a:pPr marL="0" indent="0">
                <a:buNone/>
              </a:pPr>
              <a:r>
                <a:rPr lang="en-US" sz="1150" b="1" dirty="0">
                  <a:solidFill>
                    <a:srgbClr val="16324A"/>
                  </a:solidFill>
                  <a:latin typeface="Calibri" pitchFamily="34" charset="0"/>
                  <a:ea typeface="Calibri" pitchFamily="34" charset="-122"/>
                  <a:cs typeface="Calibri" pitchFamily="34" charset="-120"/>
                </a:rPr>
                <a:t>Change PIN</a:t>
              </a:r>
              <a:endParaRPr lang="en-US" sz="1150" dirty="0"/>
            </a:p>
          </p:txBody>
        </p:sp>
        <p:sp>
          <p:nvSpPr>
            <p:cNvPr id="22" name="Shape 14"/>
            <p:cNvSpPr/>
            <p:nvPr/>
          </p:nvSpPr>
          <p:spPr>
            <a:xfrm>
              <a:off x="548640" y="3419856"/>
              <a:ext cx="384048" cy="384048"/>
            </a:xfrm>
            <a:prstGeom prst="ellipse">
              <a:avLst/>
            </a:prstGeom>
            <a:solidFill>
              <a:srgbClr val="2E6E9E"/>
            </a:solidFill>
            <a:ln/>
          </p:spPr>
          <p:txBody>
            <a:bodyPr/>
            <a:lstStyle/>
            <a:p>
              <a:endParaRPr lang="en-IN"/>
            </a:p>
          </p:txBody>
        </p:sp>
        <p:pic>
          <p:nvPicPr>
            <p:cNvPr id="23" name="Image 6" descr="preencoded.png"/>
            <p:cNvPicPr>
              <a:picLocks noChangeAspect="1"/>
            </p:cNvPicPr>
            <p:nvPr/>
          </p:nvPicPr>
          <p:blipFill>
            <a:blip r:embed="rId9"/>
            <a:stretch>
              <a:fillRect/>
            </a:stretch>
          </p:blipFill>
          <p:spPr>
            <a:xfrm>
              <a:off x="635051" y="3506267"/>
              <a:ext cx="211226" cy="211226"/>
            </a:xfrm>
            <a:prstGeom prst="rect">
              <a:avLst/>
            </a:prstGeom>
          </p:spPr>
        </p:pic>
        <p:sp>
          <p:nvSpPr>
            <p:cNvPr id="24" name="Text 15"/>
            <p:cNvSpPr/>
            <p:nvPr/>
          </p:nvSpPr>
          <p:spPr>
            <a:xfrm>
              <a:off x="1024128" y="3419856"/>
              <a:ext cx="1783080" cy="384048"/>
            </a:xfrm>
            <a:prstGeom prst="rect">
              <a:avLst/>
            </a:prstGeom>
            <a:noFill/>
            <a:ln/>
          </p:spPr>
          <p:txBody>
            <a:bodyPr wrap="square" rtlCol="0" anchor="ctr"/>
            <a:lstStyle/>
            <a:p>
              <a:pPr marL="0" indent="0">
                <a:buNone/>
              </a:pPr>
              <a:r>
                <a:rPr lang="en-US" sz="1150" b="1" dirty="0">
                  <a:solidFill>
                    <a:srgbClr val="16324A"/>
                  </a:solidFill>
                  <a:latin typeface="Calibri" pitchFamily="34" charset="0"/>
                  <a:ea typeface="Calibri" pitchFamily="34" charset="-122"/>
                  <a:cs typeface="Calibri" pitchFamily="34" charset="-120"/>
                </a:rPr>
                <a:t>Mini Statement</a:t>
              </a:r>
              <a:endParaRPr lang="en-US" sz="1150" dirty="0"/>
            </a:p>
          </p:txBody>
        </p:sp>
        <p:sp>
          <p:nvSpPr>
            <p:cNvPr id="25" name="Shape 16"/>
            <p:cNvSpPr/>
            <p:nvPr/>
          </p:nvSpPr>
          <p:spPr>
            <a:xfrm>
              <a:off x="2880360" y="3419856"/>
              <a:ext cx="384048" cy="384048"/>
            </a:xfrm>
            <a:prstGeom prst="ellipse">
              <a:avLst/>
            </a:prstGeom>
            <a:solidFill>
              <a:srgbClr val="2E6E9E"/>
            </a:solidFill>
            <a:ln/>
          </p:spPr>
          <p:txBody>
            <a:bodyPr/>
            <a:lstStyle/>
            <a:p>
              <a:endParaRPr lang="en-IN"/>
            </a:p>
          </p:txBody>
        </p:sp>
        <p:pic>
          <p:nvPicPr>
            <p:cNvPr id="26" name="Image 7" descr="preencoded.png"/>
            <p:cNvPicPr>
              <a:picLocks noChangeAspect="1"/>
            </p:cNvPicPr>
            <p:nvPr/>
          </p:nvPicPr>
          <p:blipFill>
            <a:blip r:embed="rId10"/>
            <a:stretch>
              <a:fillRect/>
            </a:stretch>
          </p:blipFill>
          <p:spPr>
            <a:xfrm>
              <a:off x="2966771" y="3506267"/>
              <a:ext cx="211226" cy="211226"/>
            </a:xfrm>
            <a:prstGeom prst="rect">
              <a:avLst/>
            </a:prstGeom>
          </p:spPr>
        </p:pic>
        <p:sp>
          <p:nvSpPr>
            <p:cNvPr id="27" name="Text 17"/>
            <p:cNvSpPr/>
            <p:nvPr/>
          </p:nvSpPr>
          <p:spPr>
            <a:xfrm>
              <a:off x="3355848" y="3419856"/>
              <a:ext cx="1783080" cy="384048"/>
            </a:xfrm>
            <a:prstGeom prst="rect">
              <a:avLst/>
            </a:prstGeom>
            <a:noFill/>
            <a:ln/>
          </p:spPr>
          <p:txBody>
            <a:bodyPr wrap="square" rtlCol="0" anchor="ctr"/>
            <a:lstStyle/>
            <a:p>
              <a:pPr marL="0" indent="0">
                <a:buNone/>
              </a:pPr>
              <a:r>
                <a:rPr lang="en-US" sz="1150" b="1" dirty="0">
                  <a:solidFill>
                    <a:srgbClr val="16324A"/>
                  </a:solidFill>
                  <a:latin typeface="Calibri" pitchFamily="34" charset="0"/>
                  <a:ea typeface="Calibri" pitchFamily="34" charset="-122"/>
                  <a:cs typeface="Calibri" pitchFamily="34" charset="-120"/>
                </a:rPr>
                <a:t>Permanent Storage</a:t>
              </a:r>
              <a:endParaRPr lang="en-US" sz="1150" dirty="0"/>
            </a:p>
          </p:txBody>
        </p:sp>
      </p:grpSp>
      <p:sp>
        <p:nvSpPr>
          <p:cNvPr id="60" name="Text 44"/>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7C8A94"/>
                </a:solidFill>
                <a:latin typeface="Calibri" pitchFamily="34" charset="0"/>
                <a:ea typeface="Calibri" pitchFamily="34" charset="-122"/>
                <a:cs typeface="Calibri" pitchFamily="34" charset="-120"/>
              </a:rPr>
              <a:t>ATM Banking System — C Programming Mini Project</a:t>
            </a:r>
            <a:endParaRPr lang="en-US" sz="900" dirty="0"/>
          </a:p>
        </p:txBody>
      </p:sp>
      <p:sp>
        <p:nvSpPr>
          <p:cNvPr id="61" name="Text 45"/>
          <p:cNvSpPr/>
          <p:nvPr/>
        </p:nvSpPr>
        <p:spPr>
          <a:xfrm>
            <a:off x="11274552" y="6510528"/>
            <a:ext cx="457200" cy="274320"/>
          </a:xfrm>
          <a:prstGeom prst="rect">
            <a:avLst/>
          </a:prstGeom>
          <a:noFill/>
          <a:ln/>
        </p:spPr>
        <p:txBody>
          <a:bodyPr wrap="square" rtlCol="0" anchor="ctr"/>
          <a:lstStyle/>
          <a:p>
            <a:pPr marL="0" indent="0" algn="r">
              <a:buNone/>
            </a:pPr>
            <a:r>
              <a:rPr lang="en-US" sz="900" dirty="0">
                <a:solidFill>
                  <a:srgbClr val="7C8A94"/>
                </a:solidFill>
                <a:latin typeface="Calibri" pitchFamily="34" charset="0"/>
                <a:ea typeface="Calibri" pitchFamily="34" charset="-122"/>
                <a:cs typeface="Calibri" pitchFamily="34" charset="-120"/>
              </a:rPr>
              <a:t>5</a:t>
            </a:r>
            <a:endParaRPr lang="en-US" sz="900" dirty="0"/>
          </a:p>
        </p:txBody>
      </p:sp>
      <p:graphicFrame>
        <p:nvGraphicFramePr>
          <p:cNvPr id="65" name="Table 0">
            <a:extLst>
              <a:ext uri="{FF2B5EF4-FFF2-40B4-BE49-F238E27FC236}">
                <a16:creationId xmlns:a16="http://schemas.microsoft.com/office/drawing/2014/main" id="{F2FFC1F7-A8AB-46B5-94ED-B3FE2405CD33}"/>
              </a:ext>
            </a:extLst>
          </p:cNvPr>
          <p:cNvGraphicFramePr>
            <a:graphicFrameLocks noGrp="1"/>
          </p:cNvGraphicFramePr>
          <p:nvPr>
            <p:extLst>
              <p:ext uri="{D42A27DB-BD31-4B8C-83A1-F6EECF244321}">
                <p14:modId xmlns:p14="http://schemas.microsoft.com/office/powerpoint/2010/main" val="3185813343"/>
              </p:ext>
            </p:extLst>
          </p:nvPr>
        </p:nvGraphicFramePr>
        <p:xfrm>
          <a:off x="6489192" y="1787726"/>
          <a:ext cx="4785360" cy="3524502"/>
        </p:xfrm>
        <a:graphic>
          <a:graphicData uri="http://schemas.openxmlformats.org/drawingml/2006/table">
            <a:tbl>
              <a:tblPr/>
              <a:tblGrid>
                <a:gridCol w="1503970">
                  <a:extLst>
                    <a:ext uri="{9D8B030D-6E8A-4147-A177-3AD203B41FA5}">
                      <a16:colId xmlns:a16="http://schemas.microsoft.com/office/drawing/2014/main" val="20000"/>
                    </a:ext>
                  </a:extLst>
                </a:gridCol>
                <a:gridCol w="1640695">
                  <a:extLst>
                    <a:ext uri="{9D8B030D-6E8A-4147-A177-3AD203B41FA5}">
                      <a16:colId xmlns:a16="http://schemas.microsoft.com/office/drawing/2014/main" val="20001"/>
                    </a:ext>
                  </a:extLst>
                </a:gridCol>
                <a:gridCol w="1640695">
                  <a:extLst>
                    <a:ext uri="{9D8B030D-6E8A-4147-A177-3AD203B41FA5}">
                      <a16:colId xmlns:a16="http://schemas.microsoft.com/office/drawing/2014/main" val="20002"/>
                    </a:ext>
                  </a:extLst>
                </a:gridCol>
              </a:tblGrid>
              <a:tr h="587417">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Feature</a:t>
                      </a:r>
                      <a:endParaRPr lang="en-US" sz="1400" dirty="0">
                        <a:latin typeface="Calibri" charset="0"/>
                        <a:ea typeface="Calibri" charset="0"/>
                        <a:cs typeface="Calibri" charset="0"/>
                      </a:endParaRPr>
                    </a:p>
                  </a:txBody>
                  <a:tcPr anchor="ctr">
                    <a:lnL w="12700" cap="flat" cmpd="sng" algn="ctr">
                      <a:solidFill>
                        <a:srgbClr val="E7ECF0"/>
                      </a:solidFill>
                      <a:prstDash val="solid"/>
                      <a:round/>
                      <a:headEnd type="none" w="med" len="med"/>
                      <a:tailEnd type="none" w="med" len="med"/>
                    </a:lnL>
                    <a:lnR w="12700" cap="flat" cmpd="sng" algn="ctr">
                      <a:solidFill>
                        <a:srgbClr val="E7ECF0"/>
                      </a:solidFill>
                      <a:prstDash val="solid"/>
                      <a:round/>
                      <a:headEnd type="none" w="med" len="med"/>
                      <a:tailEnd type="none" w="med" len="med"/>
                    </a:lnR>
                    <a:lnT w="12700" cap="flat" cmpd="sng" algn="ctr">
                      <a:solidFill>
                        <a:srgbClr val="E7ECF0"/>
                      </a:solidFill>
                      <a:prstDash val="solid"/>
                      <a:round/>
                      <a:headEnd type="none" w="med" len="med"/>
                      <a:tailEnd type="none" w="med" len="med"/>
                    </a:lnT>
                    <a:lnB w="12700" cap="flat" cmpd="sng" algn="ctr">
                      <a:solidFill>
                        <a:srgbClr val="E7ECF0"/>
                      </a:solidFill>
                      <a:prstDash val="solid"/>
                      <a:round/>
                      <a:headEnd type="none" w="med" len="med"/>
                      <a:tailEnd type="none" w="med" len="med"/>
                    </a:lnB>
                    <a:solidFill>
                      <a:srgbClr val="16324A"/>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anchor="ctr">
                    <a:lnL w="12700" cap="flat" cmpd="sng" algn="ctr">
                      <a:solidFill>
                        <a:srgbClr val="E7ECF0"/>
                      </a:solidFill>
                      <a:prstDash val="solid"/>
                      <a:round/>
                      <a:headEnd type="none" w="med" len="med"/>
                      <a:tailEnd type="none" w="med" len="med"/>
                    </a:lnL>
                    <a:lnR w="12700" cap="flat" cmpd="sng" algn="ctr">
                      <a:solidFill>
                        <a:srgbClr val="E7ECF0"/>
                      </a:solidFill>
                      <a:prstDash val="solid"/>
                      <a:round/>
                      <a:headEnd type="none" w="med" len="med"/>
                      <a:tailEnd type="none" w="med" len="med"/>
                    </a:lnR>
                    <a:lnT w="12700" cap="flat" cmpd="sng" algn="ctr">
                      <a:solidFill>
                        <a:srgbClr val="E7ECF0"/>
                      </a:solidFill>
                      <a:prstDash val="solid"/>
                      <a:round/>
                      <a:headEnd type="none" w="med" len="med"/>
                      <a:tailEnd type="none" w="med" len="med"/>
                    </a:lnT>
                    <a:lnB w="12700" cap="flat" cmpd="sng" algn="ctr">
                      <a:solidFill>
                        <a:srgbClr val="E7ECF0"/>
                      </a:solidFill>
                      <a:prstDash val="solid"/>
                      <a:round/>
                      <a:headEnd type="none" w="med" len="med"/>
                      <a:tailEnd type="none" w="med" len="med"/>
                    </a:lnB>
                    <a:solidFill>
                      <a:srgbClr val="16324A"/>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Expected Output</a:t>
                      </a:r>
                      <a:endParaRPr lang="en-US" sz="1400" dirty="0">
                        <a:latin typeface="Calibri" charset="0"/>
                        <a:ea typeface="Calibri" charset="0"/>
                        <a:cs typeface="Calibri" charset="0"/>
                      </a:endParaRPr>
                    </a:p>
                  </a:txBody>
                  <a:tcPr anchor="ctr">
                    <a:lnL w="12700" cap="flat" cmpd="sng" algn="ctr">
                      <a:solidFill>
                        <a:srgbClr val="E7ECF0"/>
                      </a:solidFill>
                      <a:prstDash val="solid"/>
                      <a:round/>
                      <a:headEnd type="none" w="med" len="med"/>
                      <a:tailEnd type="none" w="med" len="med"/>
                    </a:lnL>
                    <a:lnR w="12700" cap="flat" cmpd="sng" algn="ctr">
                      <a:solidFill>
                        <a:srgbClr val="E7ECF0"/>
                      </a:solidFill>
                      <a:prstDash val="solid"/>
                      <a:round/>
                      <a:headEnd type="none" w="med" len="med"/>
                      <a:tailEnd type="none" w="med" len="med"/>
                    </a:lnR>
                    <a:lnT w="12700" cap="flat" cmpd="sng" algn="ctr">
                      <a:solidFill>
                        <a:srgbClr val="E7ECF0"/>
                      </a:solidFill>
                      <a:prstDash val="solid"/>
                      <a:round/>
                      <a:headEnd type="none" w="med" len="med"/>
                      <a:tailEnd type="none" w="med" len="med"/>
                    </a:lnT>
                    <a:lnB w="12700" cap="flat" cmpd="sng" algn="ctr">
                      <a:solidFill>
                        <a:srgbClr val="E7ECF0"/>
                      </a:solidFill>
                      <a:prstDash val="solid"/>
                      <a:round/>
                      <a:headEnd type="none" w="med" len="med"/>
                      <a:tailEnd type="none" w="med" len="med"/>
                    </a:lnB>
                    <a:solidFill>
                      <a:srgbClr val="16324A"/>
                    </a:solidFill>
                  </a:tcPr>
                </a:tc>
                <a:extLst>
                  <a:ext uri="{0D108BD9-81ED-4DB2-BD59-A6C34878D82A}">
                    <a16:rowId xmlns:a16="http://schemas.microsoft.com/office/drawing/2014/main" val="10000"/>
                  </a:ext>
                </a:extLst>
              </a:tr>
              <a:tr h="587417">
                <a:tc>
                  <a:txBody>
                    <a:bodyPr/>
                    <a:lstStyle/>
                    <a:p>
                      <a:pPr marL="0" indent="0" algn="ctr">
                        <a:buNone/>
                      </a:pPr>
                      <a:r>
                        <a:rPr lang="en-US" sz="1350" dirty="0">
                          <a:solidFill>
                            <a:srgbClr val="2B3238"/>
                          </a:solidFill>
                          <a:latin typeface="Calibri" pitchFamily="34" charset="0"/>
                          <a:ea typeface="Calibri" pitchFamily="34" charset="-122"/>
                          <a:cs typeface="Calibri" pitchFamily="34" charset="-120"/>
                        </a:rPr>
                        <a:t>Login</a:t>
                      </a:r>
                      <a:endParaRPr lang="en-US" sz="1350" dirty="0">
                        <a:latin typeface="Calibri" charset="0"/>
                        <a:ea typeface="Calibri" charset="0"/>
                        <a:cs typeface="Calibri" charset="0"/>
                      </a:endParaRPr>
                    </a:p>
                  </a:txBody>
                  <a:tcPr anchor="ctr">
                    <a:lnL w="12700" cap="flat" cmpd="sng" algn="ctr">
                      <a:solidFill>
                        <a:srgbClr val="E7ECF0"/>
                      </a:solidFill>
                      <a:prstDash val="solid"/>
                      <a:round/>
                      <a:headEnd type="none" w="med" len="med"/>
                      <a:tailEnd type="none" w="med" len="med"/>
                    </a:lnL>
                    <a:lnR w="12700" cap="flat" cmpd="sng" algn="ctr">
                      <a:solidFill>
                        <a:srgbClr val="E7ECF0"/>
                      </a:solidFill>
                      <a:prstDash val="solid"/>
                      <a:round/>
                      <a:headEnd type="none" w="med" len="med"/>
                      <a:tailEnd type="none" w="med" len="med"/>
                    </a:lnR>
                    <a:lnT w="12700" cap="flat" cmpd="sng" algn="ctr">
                      <a:solidFill>
                        <a:srgbClr val="E7ECF0"/>
                      </a:solidFill>
                      <a:prstDash val="solid"/>
                      <a:round/>
                      <a:headEnd type="none" w="med" len="med"/>
                      <a:tailEnd type="none" w="med" len="med"/>
                    </a:lnT>
                    <a:lnB w="12700" cap="flat" cmpd="sng" algn="ctr">
                      <a:solidFill>
                        <a:srgbClr val="E7ECF0"/>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2B3238"/>
                          </a:solidFill>
                          <a:latin typeface="Calibri" pitchFamily="34" charset="0"/>
                          <a:ea typeface="Calibri" pitchFamily="34" charset="-122"/>
                          <a:cs typeface="Calibri" pitchFamily="34" charset="-120"/>
                        </a:rPr>
                        <a:t>Correct PIN</a:t>
                      </a:r>
                      <a:endParaRPr lang="en-US" sz="1350" dirty="0">
                        <a:latin typeface="Calibri" charset="0"/>
                        <a:ea typeface="Calibri" charset="0"/>
                        <a:cs typeface="Calibri" charset="0"/>
                      </a:endParaRPr>
                    </a:p>
                  </a:txBody>
                  <a:tcPr anchor="ctr">
                    <a:lnL w="12700" cap="flat" cmpd="sng" algn="ctr">
                      <a:solidFill>
                        <a:srgbClr val="E7ECF0"/>
                      </a:solidFill>
                      <a:prstDash val="solid"/>
                      <a:round/>
                      <a:headEnd type="none" w="med" len="med"/>
                      <a:tailEnd type="none" w="med" len="med"/>
                    </a:lnL>
                    <a:lnR w="12700" cap="flat" cmpd="sng" algn="ctr">
                      <a:solidFill>
                        <a:srgbClr val="E7ECF0"/>
                      </a:solidFill>
                      <a:prstDash val="solid"/>
                      <a:round/>
                      <a:headEnd type="none" w="med" len="med"/>
                      <a:tailEnd type="none" w="med" len="med"/>
                    </a:lnR>
                    <a:lnT w="12700" cap="flat" cmpd="sng" algn="ctr">
                      <a:solidFill>
                        <a:srgbClr val="E7ECF0"/>
                      </a:solidFill>
                      <a:prstDash val="solid"/>
                      <a:round/>
                      <a:headEnd type="none" w="med" len="med"/>
                      <a:tailEnd type="none" w="med" len="med"/>
                    </a:lnT>
                    <a:lnB w="12700" cap="flat" cmpd="sng" algn="ctr">
                      <a:solidFill>
                        <a:srgbClr val="E7ECF0"/>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2B3238"/>
                          </a:solidFill>
                          <a:latin typeface="Calibri" pitchFamily="34" charset="0"/>
                          <a:ea typeface="Calibri" pitchFamily="34" charset="-122"/>
                          <a:cs typeface="Calibri" pitchFamily="34" charset="-120"/>
                        </a:rPr>
                        <a:t>Success</a:t>
                      </a:r>
                      <a:endParaRPr lang="en-US" sz="1350" dirty="0">
                        <a:latin typeface="Calibri" charset="0"/>
                        <a:ea typeface="Calibri" charset="0"/>
                        <a:cs typeface="Calibri" charset="0"/>
                      </a:endParaRPr>
                    </a:p>
                  </a:txBody>
                  <a:tcPr anchor="ctr">
                    <a:lnL w="12700" cap="flat" cmpd="sng" algn="ctr">
                      <a:solidFill>
                        <a:srgbClr val="E7ECF0"/>
                      </a:solidFill>
                      <a:prstDash val="solid"/>
                      <a:round/>
                      <a:headEnd type="none" w="med" len="med"/>
                      <a:tailEnd type="none" w="med" len="med"/>
                    </a:lnL>
                    <a:lnR w="12700" cap="flat" cmpd="sng" algn="ctr">
                      <a:solidFill>
                        <a:srgbClr val="E7ECF0"/>
                      </a:solidFill>
                      <a:prstDash val="solid"/>
                      <a:round/>
                      <a:headEnd type="none" w="med" len="med"/>
                      <a:tailEnd type="none" w="med" len="med"/>
                    </a:lnR>
                    <a:lnT w="12700" cap="flat" cmpd="sng" algn="ctr">
                      <a:solidFill>
                        <a:srgbClr val="E7ECF0"/>
                      </a:solidFill>
                      <a:prstDash val="solid"/>
                      <a:round/>
                      <a:headEnd type="none" w="med" len="med"/>
                      <a:tailEnd type="none" w="med" len="med"/>
                    </a:lnT>
                    <a:lnB w="12700" cap="flat" cmpd="sng" algn="ctr">
                      <a:solidFill>
                        <a:srgbClr val="E7EC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87417">
                <a:tc>
                  <a:txBody>
                    <a:bodyPr/>
                    <a:lstStyle/>
                    <a:p>
                      <a:pPr marL="0" indent="0" algn="ctr">
                        <a:buNone/>
                      </a:pPr>
                      <a:r>
                        <a:rPr lang="en-US" sz="1350" dirty="0">
                          <a:solidFill>
                            <a:srgbClr val="2B3238"/>
                          </a:solidFill>
                          <a:latin typeface="Calibri" pitchFamily="34" charset="0"/>
                          <a:ea typeface="Calibri" pitchFamily="34" charset="-122"/>
                          <a:cs typeface="Calibri" pitchFamily="34" charset="-120"/>
                        </a:rPr>
                        <a:t>Login</a:t>
                      </a:r>
                      <a:endParaRPr lang="en-US" sz="1350" dirty="0">
                        <a:latin typeface="Calibri" charset="0"/>
                        <a:ea typeface="Calibri" charset="0"/>
                        <a:cs typeface="Calibri" charset="0"/>
                      </a:endParaRPr>
                    </a:p>
                  </a:txBody>
                  <a:tcPr anchor="ctr">
                    <a:lnL w="12700" cap="flat" cmpd="sng" algn="ctr">
                      <a:solidFill>
                        <a:srgbClr val="E7ECF0"/>
                      </a:solidFill>
                      <a:prstDash val="solid"/>
                      <a:round/>
                      <a:headEnd type="none" w="med" len="med"/>
                      <a:tailEnd type="none" w="med" len="med"/>
                    </a:lnL>
                    <a:lnR w="12700" cap="flat" cmpd="sng" algn="ctr">
                      <a:solidFill>
                        <a:srgbClr val="E7ECF0"/>
                      </a:solidFill>
                      <a:prstDash val="solid"/>
                      <a:round/>
                      <a:headEnd type="none" w="med" len="med"/>
                      <a:tailEnd type="none" w="med" len="med"/>
                    </a:lnR>
                    <a:lnT w="12700" cap="flat" cmpd="sng" algn="ctr">
                      <a:solidFill>
                        <a:srgbClr val="E7ECF0"/>
                      </a:solidFill>
                      <a:prstDash val="solid"/>
                      <a:round/>
                      <a:headEnd type="none" w="med" len="med"/>
                      <a:tailEnd type="none" w="med" len="med"/>
                    </a:lnT>
                    <a:lnB w="12700" cap="flat" cmpd="sng" algn="ctr">
                      <a:solidFill>
                        <a:srgbClr val="E7ECF0"/>
                      </a:solidFill>
                      <a:prstDash val="solid"/>
                      <a:round/>
                      <a:headEnd type="none" w="med" len="med"/>
                      <a:tailEnd type="none" w="med" len="med"/>
                    </a:lnB>
                    <a:solidFill>
                      <a:srgbClr val="F4F7FA"/>
                    </a:solidFill>
                  </a:tcPr>
                </a:tc>
                <a:tc>
                  <a:txBody>
                    <a:bodyPr/>
                    <a:lstStyle/>
                    <a:p>
                      <a:pPr marL="0" indent="0" algn="ctr">
                        <a:buNone/>
                      </a:pPr>
                      <a:r>
                        <a:rPr lang="en-US" sz="1350" dirty="0">
                          <a:solidFill>
                            <a:srgbClr val="2B3238"/>
                          </a:solidFill>
                          <a:latin typeface="Calibri" pitchFamily="34" charset="0"/>
                          <a:ea typeface="Calibri" pitchFamily="34" charset="-122"/>
                          <a:cs typeface="Calibri" pitchFamily="34" charset="-120"/>
                        </a:rPr>
                        <a:t>Wrong PIN</a:t>
                      </a:r>
                      <a:endParaRPr lang="en-US" sz="1350" dirty="0">
                        <a:latin typeface="Calibri" charset="0"/>
                        <a:ea typeface="Calibri" charset="0"/>
                        <a:cs typeface="Calibri" charset="0"/>
                      </a:endParaRPr>
                    </a:p>
                  </a:txBody>
                  <a:tcPr anchor="ctr">
                    <a:lnL w="12700" cap="flat" cmpd="sng" algn="ctr">
                      <a:solidFill>
                        <a:srgbClr val="E7ECF0"/>
                      </a:solidFill>
                      <a:prstDash val="solid"/>
                      <a:round/>
                      <a:headEnd type="none" w="med" len="med"/>
                      <a:tailEnd type="none" w="med" len="med"/>
                    </a:lnL>
                    <a:lnR w="12700" cap="flat" cmpd="sng" algn="ctr">
                      <a:solidFill>
                        <a:srgbClr val="E7ECF0"/>
                      </a:solidFill>
                      <a:prstDash val="solid"/>
                      <a:round/>
                      <a:headEnd type="none" w="med" len="med"/>
                      <a:tailEnd type="none" w="med" len="med"/>
                    </a:lnR>
                    <a:lnT w="12700" cap="flat" cmpd="sng" algn="ctr">
                      <a:solidFill>
                        <a:srgbClr val="E7ECF0"/>
                      </a:solidFill>
                      <a:prstDash val="solid"/>
                      <a:round/>
                      <a:headEnd type="none" w="med" len="med"/>
                      <a:tailEnd type="none" w="med" len="med"/>
                    </a:lnT>
                    <a:lnB w="12700" cap="flat" cmpd="sng" algn="ctr">
                      <a:solidFill>
                        <a:srgbClr val="E7ECF0"/>
                      </a:solidFill>
                      <a:prstDash val="solid"/>
                      <a:round/>
                      <a:headEnd type="none" w="med" len="med"/>
                      <a:tailEnd type="none" w="med" len="med"/>
                    </a:lnB>
                    <a:solidFill>
                      <a:srgbClr val="F4F7FA"/>
                    </a:solidFill>
                  </a:tcPr>
                </a:tc>
                <a:tc>
                  <a:txBody>
                    <a:bodyPr/>
                    <a:lstStyle/>
                    <a:p>
                      <a:pPr marL="0" indent="0" algn="ctr">
                        <a:buNone/>
                      </a:pPr>
                      <a:r>
                        <a:rPr lang="en-US" sz="1350" dirty="0">
                          <a:solidFill>
                            <a:srgbClr val="2B3238"/>
                          </a:solidFill>
                          <a:latin typeface="Calibri" pitchFamily="34" charset="0"/>
                          <a:ea typeface="Calibri" pitchFamily="34" charset="-122"/>
                          <a:cs typeface="Calibri" pitchFamily="34" charset="-120"/>
                        </a:rPr>
                        <a:t>Error</a:t>
                      </a:r>
                      <a:endParaRPr lang="en-US" sz="1350" dirty="0">
                        <a:latin typeface="Calibri" charset="0"/>
                        <a:ea typeface="Calibri" charset="0"/>
                        <a:cs typeface="Calibri" charset="0"/>
                      </a:endParaRPr>
                    </a:p>
                  </a:txBody>
                  <a:tcPr anchor="ctr">
                    <a:lnL w="12700" cap="flat" cmpd="sng" algn="ctr">
                      <a:solidFill>
                        <a:srgbClr val="E7ECF0"/>
                      </a:solidFill>
                      <a:prstDash val="solid"/>
                      <a:round/>
                      <a:headEnd type="none" w="med" len="med"/>
                      <a:tailEnd type="none" w="med" len="med"/>
                    </a:lnL>
                    <a:lnR w="12700" cap="flat" cmpd="sng" algn="ctr">
                      <a:solidFill>
                        <a:srgbClr val="E7ECF0"/>
                      </a:solidFill>
                      <a:prstDash val="solid"/>
                      <a:round/>
                      <a:headEnd type="none" w="med" len="med"/>
                      <a:tailEnd type="none" w="med" len="med"/>
                    </a:lnR>
                    <a:lnT w="12700" cap="flat" cmpd="sng" algn="ctr">
                      <a:solidFill>
                        <a:srgbClr val="E7ECF0"/>
                      </a:solidFill>
                      <a:prstDash val="solid"/>
                      <a:round/>
                      <a:headEnd type="none" w="med" len="med"/>
                      <a:tailEnd type="none" w="med" len="med"/>
                    </a:lnT>
                    <a:lnB w="12700" cap="flat" cmpd="sng" algn="ctr">
                      <a:solidFill>
                        <a:srgbClr val="E7ECF0"/>
                      </a:solidFill>
                      <a:prstDash val="solid"/>
                      <a:round/>
                      <a:headEnd type="none" w="med" len="med"/>
                      <a:tailEnd type="none" w="med" len="med"/>
                    </a:lnB>
                    <a:solidFill>
                      <a:srgbClr val="F4F7FA"/>
                    </a:solidFill>
                  </a:tcPr>
                </a:tc>
                <a:extLst>
                  <a:ext uri="{0D108BD9-81ED-4DB2-BD59-A6C34878D82A}">
                    <a16:rowId xmlns:a16="http://schemas.microsoft.com/office/drawing/2014/main" val="10002"/>
                  </a:ext>
                </a:extLst>
              </a:tr>
              <a:tr h="587417">
                <a:tc>
                  <a:txBody>
                    <a:bodyPr/>
                    <a:lstStyle/>
                    <a:p>
                      <a:pPr marL="0" indent="0" algn="ctr">
                        <a:buNone/>
                      </a:pPr>
                      <a:r>
                        <a:rPr lang="en-US" sz="1350" dirty="0">
                          <a:solidFill>
                            <a:srgbClr val="2B3238"/>
                          </a:solidFill>
                          <a:latin typeface="Calibri" pitchFamily="34" charset="0"/>
                          <a:ea typeface="Calibri" pitchFamily="34" charset="-122"/>
                          <a:cs typeface="Calibri" pitchFamily="34" charset="-120"/>
                        </a:rPr>
                        <a:t>Deposit</a:t>
                      </a:r>
                      <a:endParaRPr lang="en-US" sz="1350" dirty="0">
                        <a:latin typeface="Calibri" charset="0"/>
                        <a:ea typeface="Calibri" charset="0"/>
                        <a:cs typeface="Calibri" charset="0"/>
                      </a:endParaRPr>
                    </a:p>
                  </a:txBody>
                  <a:tcPr anchor="ctr">
                    <a:lnL w="12700" cap="flat" cmpd="sng" algn="ctr">
                      <a:solidFill>
                        <a:srgbClr val="E7ECF0"/>
                      </a:solidFill>
                      <a:prstDash val="solid"/>
                      <a:round/>
                      <a:headEnd type="none" w="med" len="med"/>
                      <a:tailEnd type="none" w="med" len="med"/>
                    </a:lnL>
                    <a:lnR w="12700" cap="flat" cmpd="sng" algn="ctr">
                      <a:solidFill>
                        <a:srgbClr val="E7ECF0"/>
                      </a:solidFill>
                      <a:prstDash val="solid"/>
                      <a:round/>
                      <a:headEnd type="none" w="med" len="med"/>
                      <a:tailEnd type="none" w="med" len="med"/>
                    </a:lnR>
                    <a:lnT w="12700" cap="flat" cmpd="sng" algn="ctr">
                      <a:solidFill>
                        <a:srgbClr val="E7ECF0"/>
                      </a:solidFill>
                      <a:prstDash val="solid"/>
                      <a:round/>
                      <a:headEnd type="none" w="med" len="med"/>
                      <a:tailEnd type="none" w="med" len="med"/>
                    </a:lnT>
                    <a:lnB w="12700" cap="flat" cmpd="sng" algn="ctr">
                      <a:solidFill>
                        <a:srgbClr val="E7ECF0"/>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2B3238"/>
                          </a:solidFill>
                          <a:latin typeface="Calibri" pitchFamily="34" charset="0"/>
                          <a:ea typeface="Calibri" pitchFamily="34" charset="-122"/>
                          <a:cs typeface="Calibri" pitchFamily="34" charset="-120"/>
                        </a:rPr>
                        <a:t>500</a:t>
                      </a:r>
                      <a:endParaRPr lang="en-US" sz="1350" dirty="0">
                        <a:latin typeface="Calibri" charset="0"/>
                        <a:ea typeface="Calibri" charset="0"/>
                        <a:cs typeface="Calibri" charset="0"/>
                      </a:endParaRPr>
                    </a:p>
                  </a:txBody>
                  <a:tcPr anchor="ctr">
                    <a:lnL w="12700" cap="flat" cmpd="sng" algn="ctr">
                      <a:solidFill>
                        <a:srgbClr val="E7ECF0"/>
                      </a:solidFill>
                      <a:prstDash val="solid"/>
                      <a:round/>
                      <a:headEnd type="none" w="med" len="med"/>
                      <a:tailEnd type="none" w="med" len="med"/>
                    </a:lnL>
                    <a:lnR w="12700" cap="flat" cmpd="sng" algn="ctr">
                      <a:solidFill>
                        <a:srgbClr val="E7ECF0"/>
                      </a:solidFill>
                      <a:prstDash val="solid"/>
                      <a:round/>
                      <a:headEnd type="none" w="med" len="med"/>
                      <a:tailEnd type="none" w="med" len="med"/>
                    </a:lnR>
                    <a:lnT w="12700" cap="flat" cmpd="sng" algn="ctr">
                      <a:solidFill>
                        <a:srgbClr val="E7ECF0"/>
                      </a:solidFill>
                      <a:prstDash val="solid"/>
                      <a:round/>
                      <a:headEnd type="none" w="med" len="med"/>
                      <a:tailEnd type="none" w="med" len="med"/>
                    </a:lnT>
                    <a:lnB w="12700" cap="flat" cmpd="sng" algn="ctr">
                      <a:solidFill>
                        <a:srgbClr val="E7ECF0"/>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2B3238"/>
                          </a:solidFill>
                          <a:latin typeface="Calibri" pitchFamily="34" charset="0"/>
                          <a:ea typeface="Calibri" pitchFamily="34" charset="-122"/>
                          <a:cs typeface="Calibri" pitchFamily="34" charset="-120"/>
                        </a:rPr>
                        <a:t>Balance Updated</a:t>
                      </a:r>
                      <a:endParaRPr lang="en-US" sz="1350" dirty="0">
                        <a:latin typeface="Calibri" charset="0"/>
                        <a:ea typeface="Calibri" charset="0"/>
                        <a:cs typeface="Calibri" charset="0"/>
                      </a:endParaRPr>
                    </a:p>
                  </a:txBody>
                  <a:tcPr anchor="ctr">
                    <a:lnL w="12700" cap="flat" cmpd="sng" algn="ctr">
                      <a:solidFill>
                        <a:srgbClr val="E7ECF0"/>
                      </a:solidFill>
                      <a:prstDash val="solid"/>
                      <a:round/>
                      <a:headEnd type="none" w="med" len="med"/>
                      <a:tailEnd type="none" w="med" len="med"/>
                    </a:lnL>
                    <a:lnR w="12700" cap="flat" cmpd="sng" algn="ctr">
                      <a:solidFill>
                        <a:srgbClr val="E7ECF0"/>
                      </a:solidFill>
                      <a:prstDash val="solid"/>
                      <a:round/>
                      <a:headEnd type="none" w="med" len="med"/>
                      <a:tailEnd type="none" w="med" len="med"/>
                    </a:lnR>
                    <a:lnT w="12700" cap="flat" cmpd="sng" algn="ctr">
                      <a:solidFill>
                        <a:srgbClr val="E7ECF0"/>
                      </a:solidFill>
                      <a:prstDash val="solid"/>
                      <a:round/>
                      <a:headEnd type="none" w="med" len="med"/>
                      <a:tailEnd type="none" w="med" len="med"/>
                    </a:lnT>
                    <a:lnB w="12700" cap="flat" cmpd="sng" algn="ctr">
                      <a:solidFill>
                        <a:srgbClr val="E7EC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87417">
                <a:tc>
                  <a:txBody>
                    <a:bodyPr/>
                    <a:lstStyle/>
                    <a:p>
                      <a:pPr marL="0" indent="0" algn="ctr">
                        <a:buNone/>
                      </a:pPr>
                      <a:r>
                        <a:rPr lang="en-US" sz="1350" dirty="0">
                          <a:solidFill>
                            <a:srgbClr val="2B3238"/>
                          </a:solidFill>
                          <a:latin typeface="Calibri" pitchFamily="34" charset="0"/>
                          <a:ea typeface="Calibri" pitchFamily="34" charset="-122"/>
                          <a:cs typeface="Calibri" pitchFamily="34" charset="-120"/>
                        </a:rPr>
                        <a:t>Withdraw</a:t>
                      </a:r>
                      <a:endParaRPr lang="en-US" sz="1350" dirty="0">
                        <a:latin typeface="Calibri" charset="0"/>
                        <a:ea typeface="Calibri" charset="0"/>
                        <a:cs typeface="Calibri" charset="0"/>
                      </a:endParaRPr>
                    </a:p>
                  </a:txBody>
                  <a:tcPr anchor="ctr">
                    <a:lnL w="12700" cap="flat" cmpd="sng" algn="ctr">
                      <a:solidFill>
                        <a:srgbClr val="E7ECF0"/>
                      </a:solidFill>
                      <a:prstDash val="solid"/>
                      <a:round/>
                      <a:headEnd type="none" w="med" len="med"/>
                      <a:tailEnd type="none" w="med" len="med"/>
                    </a:lnL>
                    <a:lnR w="12700" cap="flat" cmpd="sng" algn="ctr">
                      <a:solidFill>
                        <a:srgbClr val="E7ECF0"/>
                      </a:solidFill>
                      <a:prstDash val="solid"/>
                      <a:round/>
                      <a:headEnd type="none" w="med" len="med"/>
                      <a:tailEnd type="none" w="med" len="med"/>
                    </a:lnR>
                    <a:lnT w="12700" cap="flat" cmpd="sng" algn="ctr">
                      <a:solidFill>
                        <a:srgbClr val="E7ECF0"/>
                      </a:solidFill>
                      <a:prstDash val="solid"/>
                      <a:round/>
                      <a:headEnd type="none" w="med" len="med"/>
                      <a:tailEnd type="none" w="med" len="med"/>
                    </a:lnT>
                    <a:lnB w="12700" cap="flat" cmpd="sng" algn="ctr">
                      <a:solidFill>
                        <a:srgbClr val="E7ECF0"/>
                      </a:solidFill>
                      <a:prstDash val="solid"/>
                      <a:round/>
                      <a:headEnd type="none" w="med" len="med"/>
                      <a:tailEnd type="none" w="med" len="med"/>
                    </a:lnB>
                    <a:solidFill>
                      <a:srgbClr val="F4F7FA"/>
                    </a:solidFill>
                  </a:tcPr>
                </a:tc>
                <a:tc>
                  <a:txBody>
                    <a:bodyPr/>
                    <a:lstStyle/>
                    <a:p>
                      <a:pPr marL="0" indent="0" algn="ctr">
                        <a:buNone/>
                      </a:pPr>
                      <a:r>
                        <a:rPr lang="en-US" sz="1350" dirty="0">
                          <a:solidFill>
                            <a:srgbClr val="2B3238"/>
                          </a:solidFill>
                          <a:latin typeface="Calibri" pitchFamily="34" charset="0"/>
                          <a:ea typeface="Calibri" pitchFamily="34" charset="-122"/>
                          <a:cs typeface="Calibri" pitchFamily="34" charset="-120"/>
                        </a:rPr>
                        <a:t>1000</a:t>
                      </a:r>
                      <a:endParaRPr lang="en-US" sz="1350" dirty="0">
                        <a:latin typeface="Calibri" charset="0"/>
                        <a:ea typeface="Calibri" charset="0"/>
                        <a:cs typeface="Calibri" charset="0"/>
                      </a:endParaRPr>
                    </a:p>
                  </a:txBody>
                  <a:tcPr anchor="ctr">
                    <a:lnL w="12700" cap="flat" cmpd="sng" algn="ctr">
                      <a:solidFill>
                        <a:srgbClr val="E7ECF0"/>
                      </a:solidFill>
                      <a:prstDash val="solid"/>
                      <a:round/>
                      <a:headEnd type="none" w="med" len="med"/>
                      <a:tailEnd type="none" w="med" len="med"/>
                    </a:lnL>
                    <a:lnR w="12700" cap="flat" cmpd="sng" algn="ctr">
                      <a:solidFill>
                        <a:srgbClr val="E7ECF0"/>
                      </a:solidFill>
                      <a:prstDash val="solid"/>
                      <a:round/>
                      <a:headEnd type="none" w="med" len="med"/>
                      <a:tailEnd type="none" w="med" len="med"/>
                    </a:lnR>
                    <a:lnT w="12700" cap="flat" cmpd="sng" algn="ctr">
                      <a:solidFill>
                        <a:srgbClr val="E7ECF0"/>
                      </a:solidFill>
                      <a:prstDash val="solid"/>
                      <a:round/>
                      <a:headEnd type="none" w="med" len="med"/>
                      <a:tailEnd type="none" w="med" len="med"/>
                    </a:lnT>
                    <a:lnB w="12700" cap="flat" cmpd="sng" algn="ctr">
                      <a:solidFill>
                        <a:srgbClr val="E7ECF0"/>
                      </a:solidFill>
                      <a:prstDash val="solid"/>
                      <a:round/>
                      <a:headEnd type="none" w="med" len="med"/>
                      <a:tailEnd type="none" w="med" len="med"/>
                    </a:lnB>
                    <a:solidFill>
                      <a:srgbClr val="F4F7FA"/>
                    </a:solidFill>
                  </a:tcPr>
                </a:tc>
                <a:tc>
                  <a:txBody>
                    <a:bodyPr/>
                    <a:lstStyle/>
                    <a:p>
                      <a:pPr marL="0" indent="0" algn="ctr">
                        <a:buNone/>
                      </a:pPr>
                      <a:r>
                        <a:rPr lang="en-US" sz="1350" dirty="0">
                          <a:solidFill>
                            <a:srgbClr val="2B3238"/>
                          </a:solidFill>
                          <a:latin typeface="Calibri" pitchFamily="34" charset="0"/>
                          <a:ea typeface="Calibri" pitchFamily="34" charset="-122"/>
                          <a:cs typeface="Calibri" pitchFamily="34" charset="-120"/>
                        </a:rPr>
                        <a:t>Balance Reduced</a:t>
                      </a:r>
                      <a:endParaRPr lang="en-US" sz="1350" dirty="0">
                        <a:latin typeface="Calibri" charset="0"/>
                        <a:ea typeface="Calibri" charset="0"/>
                        <a:cs typeface="Calibri" charset="0"/>
                      </a:endParaRPr>
                    </a:p>
                  </a:txBody>
                  <a:tcPr anchor="ctr">
                    <a:lnL w="12700" cap="flat" cmpd="sng" algn="ctr">
                      <a:solidFill>
                        <a:srgbClr val="E7ECF0"/>
                      </a:solidFill>
                      <a:prstDash val="solid"/>
                      <a:round/>
                      <a:headEnd type="none" w="med" len="med"/>
                      <a:tailEnd type="none" w="med" len="med"/>
                    </a:lnL>
                    <a:lnR w="12700" cap="flat" cmpd="sng" algn="ctr">
                      <a:solidFill>
                        <a:srgbClr val="E7ECF0"/>
                      </a:solidFill>
                      <a:prstDash val="solid"/>
                      <a:round/>
                      <a:headEnd type="none" w="med" len="med"/>
                      <a:tailEnd type="none" w="med" len="med"/>
                    </a:lnR>
                    <a:lnT w="12700" cap="flat" cmpd="sng" algn="ctr">
                      <a:solidFill>
                        <a:srgbClr val="E7ECF0"/>
                      </a:solidFill>
                      <a:prstDash val="solid"/>
                      <a:round/>
                      <a:headEnd type="none" w="med" len="med"/>
                      <a:tailEnd type="none" w="med" len="med"/>
                    </a:lnT>
                    <a:lnB w="12700" cap="flat" cmpd="sng" algn="ctr">
                      <a:solidFill>
                        <a:srgbClr val="E7ECF0"/>
                      </a:solidFill>
                      <a:prstDash val="solid"/>
                      <a:round/>
                      <a:headEnd type="none" w="med" len="med"/>
                      <a:tailEnd type="none" w="med" len="med"/>
                    </a:lnB>
                    <a:solidFill>
                      <a:srgbClr val="F4F7FA"/>
                    </a:solidFill>
                  </a:tcPr>
                </a:tc>
                <a:extLst>
                  <a:ext uri="{0D108BD9-81ED-4DB2-BD59-A6C34878D82A}">
                    <a16:rowId xmlns:a16="http://schemas.microsoft.com/office/drawing/2014/main" val="10004"/>
                  </a:ext>
                </a:extLst>
              </a:tr>
              <a:tr h="587417">
                <a:tc>
                  <a:txBody>
                    <a:bodyPr/>
                    <a:lstStyle/>
                    <a:p>
                      <a:pPr marL="0" indent="0" algn="ctr">
                        <a:buNone/>
                      </a:pPr>
                      <a:r>
                        <a:rPr lang="en-US" sz="1350" dirty="0">
                          <a:solidFill>
                            <a:srgbClr val="2B3238"/>
                          </a:solidFill>
                          <a:latin typeface="Calibri" pitchFamily="34" charset="0"/>
                          <a:ea typeface="Calibri" pitchFamily="34" charset="-122"/>
                          <a:cs typeface="Calibri" pitchFamily="34" charset="-120"/>
                        </a:rPr>
                        <a:t>Transfer</a:t>
                      </a:r>
                      <a:endParaRPr lang="en-US" sz="1350" dirty="0">
                        <a:latin typeface="Calibri" charset="0"/>
                        <a:ea typeface="Calibri" charset="0"/>
                        <a:cs typeface="Calibri" charset="0"/>
                      </a:endParaRPr>
                    </a:p>
                  </a:txBody>
                  <a:tcPr anchor="ctr">
                    <a:lnL w="12700" cap="flat" cmpd="sng" algn="ctr">
                      <a:solidFill>
                        <a:srgbClr val="E7ECF0"/>
                      </a:solidFill>
                      <a:prstDash val="solid"/>
                      <a:round/>
                      <a:headEnd type="none" w="med" len="med"/>
                      <a:tailEnd type="none" w="med" len="med"/>
                    </a:lnL>
                    <a:lnR w="12700" cap="flat" cmpd="sng" algn="ctr">
                      <a:solidFill>
                        <a:srgbClr val="E7ECF0"/>
                      </a:solidFill>
                      <a:prstDash val="solid"/>
                      <a:round/>
                      <a:headEnd type="none" w="med" len="med"/>
                      <a:tailEnd type="none" w="med" len="med"/>
                    </a:lnR>
                    <a:lnT w="12700" cap="flat" cmpd="sng" algn="ctr">
                      <a:solidFill>
                        <a:srgbClr val="E7ECF0"/>
                      </a:solidFill>
                      <a:prstDash val="solid"/>
                      <a:round/>
                      <a:headEnd type="none" w="med" len="med"/>
                      <a:tailEnd type="none" w="med" len="med"/>
                    </a:lnT>
                    <a:lnB w="12700" cap="flat" cmpd="sng" algn="ctr">
                      <a:solidFill>
                        <a:srgbClr val="E7ECF0"/>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2B3238"/>
                          </a:solidFill>
                          <a:latin typeface="Calibri" pitchFamily="34" charset="0"/>
                          <a:ea typeface="Calibri" pitchFamily="34" charset="-122"/>
                          <a:cs typeface="Calibri" pitchFamily="34" charset="-120"/>
                        </a:rPr>
                        <a:t>Valid Account</a:t>
                      </a:r>
                      <a:endParaRPr lang="en-US" sz="1350" dirty="0">
                        <a:latin typeface="Calibri" charset="0"/>
                        <a:ea typeface="Calibri" charset="0"/>
                        <a:cs typeface="Calibri" charset="0"/>
                      </a:endParaRPr>
                    </a:p>
                  </a:txBody>
                  <a:tcPr anchor="ctr">
                    <a:lnL w="12700" cap="flat" cmpd="sng" algn="ctr">
                      <a:solidFill>
                        <a:srgbClr val="E7ECF0"/>
                      </a:solidFill>
                      <a:prstDash val="solid"/>
                      <a:round/>
                      <a:headEnd type="none" w="med" len="med"/>
                      <a:tailEnd type="none" w="med" len="med"/>
                    </a:lnL>
                    <a:lnR w="12700" cap="flat" cmpd="sng" algn="ctr">
                      <a:solidFill>
                        <a:srgbClr val="E7ECF0"/>
                      </a:solidFill>
                      <a:prstDash val="solid"/>
                      <a:round/>
                      <a:headEnd type="none" w="med" len="med"/>
                      <a:tailEnd type="none" w="med" len="med"/>
                    </a:lnR>
                    <a:lnT w="12700" cap="flat" cmpd="sng" algn="ctr">
                      <a:solidFill>
                        <a:srgbClr val="E7ECF0"/>
                      </a:solidFill>
                      <a:prstDash val="solid"/>
                      <a:round/>
                      <a:headEnd type="none" w="med" len="med"/>
                      <a:tailEnd type="none" w="med" len="med"/>
                    </a:lnT>
                    <a:lnB w="12700" cap="flat" cmpd="sng" algn="ctr">
                      <a:solidFill>
                        <a:srgbClr val="E7ECF0"/>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2B3238"/>
                          </a:solidFill>
                          <a:latin typeface="Calibri" pitchFamily="34" charset="0"/>
                          <a:ea typeface="Calibri" pitchFamily="34" charset="-122"/>
                          <a:cs typeface="Calibri" pitchFamily="34" charset="-120"/>
                        </a:rPr>
                        <a:t>Transfer Successful</a:t>
                      </a:r>
                      <a:endParaRPr lang="en-US" sz="1350" dirty="0">
                        <a:latin typeface="Calibri" charset="0"/>
                        <a:ea typeface="Calibri" charset="0"/>
                        <a:cs typeface="Calibri" charset="0"/>
                      </a:endParaRPr>
                    </a:p>
                  </a:txBody>
                  <a:tcPr anchor="ctr">
                    <a:lnL w="12700" cap="flat" cmpd="sng" algn="ctr">
                      <a:solidFill>
                        <a:srgbClr val="E7ECF0"/>
                      </a:solidFill>
                      <a:prstDash val="solid"/>
                      <a:round/>
                      <a:headEnd type="none" w="med" len="med"/>
                      <a:tailEnd type="none" w="med" len="med"/>
                    </a:lnL>
                    <a:lnR w="12700" cap="flat" cmpd="sng" algn="ctr">
                      <a:solidFill>
                        <a:srgbClr val="E7ECF0"/>
                      </a:solidFill>
                      <a:prstDash val="solid"/>
                      <a:round/>
                      <a:headEnd type="none" w="med" len="med"/>
                      <a:tailEnd type="none" w="med" len="med"/>
                    </a:lnR>
                    <a:lnT w="12700" cap="flat" cmpd="sng" algn="ctr">
                      <a:solidFill>
                        <a:srgbClr val="E7ECF0"/>
                      </a:solidFill>
                      <a:prstDash val="solid"/>
                      <a:round/>
                      <a:headEnd type="none" w="med" len="med"/>
                      <a:tailEnd type="none" w="med" len="med"/>
                    </a:lnT>
                    <a:lnB w="12700" cap="flat" cmpd="sng" algn="ctr">
                      <a:solidFill>
                        <a:srgbClr val="E7EC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6" name="Rectangle 65">
            <a:extLst>
              <a:ext uri="{FF2B5EF4-FFF2-40B4-BE49-F238E27FC236}">
                <a16:creationId xmlns:a16="http://schemas.microsoft.com/office/drawing/2014/main" id="{6CC118E2-649A-0586-9D66-816E7C2B1778}"/>
              </a:ext>
            </a:extLst>
          </p:cNvPr>
          <p:cNvSpPr/>
          <p:nvPr/>
        </p:nvSpPr>
        <p:spPr>
          <a:xfrm>
            <a:off x="6489192" y="1359366"/>
            <a:ext cx="4408370" cy="3728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dirty="0">
                <a:solidFill>
                  <a:schemeClr val="tx1"/>
                </a:solidFill>
              </a:rPr>
              <a:t>Test</a:t>
            </a:r>
            <a:r>
              <a:rPr lang="en-IN" b="1" dirty="0"/>
              <a:t> </a:t>
            </a:r>
            <a:r>
              <a:rPr lang="en-IN" b="1" dirty="0">
                <a:solidFill>
                  <a:schemeClr val="tx1"/>
                </a:solidFill>
              </a:rPr>
              <a:t>cases</a:t>
            </a:r>
            <a:r>
              <a:rPr lang="en-IN" b="1" dirty="0"/>
              <a:t>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16324A"/>
                </a:solidFill>
                <a:latin typeface="Cambria" pitchFamily="34" charset="0"/>
                <a:ea typeface="Cambria" pitchFamily="34" charset="-122"/>
                <a:cs typeface="Cambria" pitchFamily="34" charset="-120"/>
              </a:rPr>
              <a:t>Learning Outcomes &amp; Future Scope</a:t>
            </a:r>
            <a:endParaRPr lang="en-US" sz="3000" dirty="0"/>
          </a:p>
        </p:txBody>
      </p:sp>
      <p:sp>
        <p:nvSpPr>
          <p:cNvPr id="3" name="Shape 1"/>
          <p:cNvSpPr/>
          <p:nvPr/>
        </p:nvSpPr>
        <p:spPr>
          <a:xfrm>
            <a:off x="457200" y="1197864"/>
            <a:ext cx="5394960" cy="4480560"/>
          </a:xfrm>
          <a:prstGeom prst="rect">
            <a:avLst/>
          </a:prstGeom>
          <a:solidFill>
            <a:srgbClr val="F4F7FA"/>
          </a:solidFill>
          <a:ln/>
        </p:spPr>
        <p:txBody>
          <a:bodyPr/>
          <a:lstStyle/>
          <a:p>
            <a:endParaRPr lang="en-IN"/>
          </a:p>
        </p:txBody>
      </p:sp>
      <p:sp>
        <p:nvSpPr>
          <p:cNvPr id="4" name="Text 2"/>
          <p:cNvSpPr/>
          <p:nvPr/>
        </p:nvSpPr>
        <p:spPr>
          <a:xfrm>
            <a:off x="822960" y="1417320"/>
            <a:ext cx="4846320" cy="365760"/>
          </a:xfrm>
          <a:prstGeom prst="rect">
            <a:avLst/>
          </a:prstGeom>
          <a:noFill/>
          <a:ln/>
        </p:spPr>
        <p:txBody>
          <a:bodyPr wrap="square" rtlCol="0" anchor="ctr"/>
          <a:lstStyle/>
          <a:p>
            <a:pPr marL="0" indent="0">
              <a:buNone/>
            </a:pPr>
            <a:r>
              <a:rPr lang="en-US" sz="1700" b="1" dirty="0">
                <a:solidFill>
                  <a:srgbClr val="16324A"/>
                </a:solidFill>
                <a:latin typeface="Cambria" pitchFamily="34" charset="0"/>
                <a:ea typeface="Cambria" pitchFamily="34" charset="-122"/>
                <a:cs typeface="Cambria" pitchFamily="34" charset="-120"/>
              </a:rPr>
              <a:t>Learning Outcomes</a:t>
            </a:r>
            <a:endParaRPr lang="en-US" sz="1700" dirty="0"/>
          </a:p>
        </p:txBody>
      </p:sp>
      <p:sp>
        <p:nvSpPr>
          <p:cNvPr id="5" name="Text 3"/>
          <p:cNvSpPr/>
          <p:nvPr/>
        </p:nvSpPr>
        <p:spPr>
          <a:xfrm>
            <a:off x="822960" y="1783080"/>
            <a:ext cx="4846320" cy="274320"/>
          </a:xfrm>
          <a:prstGeom prst="rect">
            <a:avLst/>
          </a:prstGeom>
          <a:noFill/>
          <a:ln/>
        </p:spPr>
        <p:txBody>
          <a:bodyPr wrap="square" rtlCol="0" anchor="ctr"/>
          <a:lstStyle/>
          <a:p>
            <a:pPr marL="0" indent="0">
              <a:buNone/>
            </a:pPr>
            <a:r>
              <a:rPr lang="en-US" sz="1200" i="1" dirty="0">
                <a:solidFill>
                  <a:srgbClr val="7C8A94"/>
                </a:solidFill>
                <a:latin typeface="Calibri" pitchFamily="34" charset="0"/>
                <a:ea typeface="Calibri" pitchFamily="34" charset="-122"/>
                <a:cs typeface="Calibri" pitchFamily="34" charset="-120"/>
              </a:rPr>
              <a:t>Through this project I learned:</a:t>
            </a:r>
            <a:endParaRPr lang="en-US" sz="1200" dirty="0"/>
          </a:p>
        </p:txBody>
      </p:sp>
      <p:sp>
        <p:nvSpPr>
          <p:cNvPr id="6" name="Text 4"/>
          <p:cNvSpPr/>
          <p:nvPr/>
        </p:nvSpPr>
        <p:spPr>
          <a:xfrm>
            <a:off x="822960" y="2148840"/>
            <a:ext cx="4846320" cy="3511296"/>
          </a:xfrm>
          <a:prstGeom prst="rect">
            <a:avLst/>
          </a:prstGeom>
          <a:noFill/>
          <a:ln/>
        </p:spPr>
        <p:txBody>
          <a:bodyPr wrap="square" rtlCol="0" anchor="t"/>
          <a:lstStyle/>
          <a:p>
            <a:pPr marL="228600" indent="-228600">
              <a:spcAft>
                <a:spcPts val="900"/>
              </a:spcAft>
              <a:buSzPct val="100000"/>
              <a:buChar char="●"/>
            </a:pPr>
            <a:r>
              <a:rPr lang="en-US" sz="1350" dirty="0">
                <a:solidFill>
                  <a:srgbClr val="2B3238"/>
                </a:solidFill>
                <a:latin typeface="Calibri" pitchFamily="34" charset="0"/>
                <a:ea typeface="Calibri" pitchFamily="34" charset="-122"/>
                <a:cs typeface="Calibri" pitchFamily="34" charset="-120"/>
              </a:rPr>
              <a:t>Writing modular C programs</a:t>
            </a:r>
          </a:p>
          <a:p>
            <a:pPr>
              <a:spcAft>
                <a:spcPts val="900"/>
              </a:spcAft>
              <a:buSzPct val="100000"/>
            </a:pPr>
            <a:endParaRPr lang="en-US" sz="1350" dirty="0"/>
          </a:p>
          <a:p>
            <a:pPr marL="228600" indent="-228600">
              <a:spcAft>
                <a:spcPts val="900"/>
              </a:spcAft>
              <a:buSzPct val="100000"/>
              <a:buChar char="●"/>
            </a:pPr>
            <a:r>
              <a:rPr lang="en-US" sz="1350" dirty="0">
                <a:solidFill>
                  <a:srgbClr val="2B3238"/>
                </a:solidFill>
                <a:latin typeface="Calibri" pitchFamily="34" charset="0"/>
                <a:ea typeface="Calibri" pitchFamily="34" charset="-122"/>
                <a:cs typeface="Calibri" pitchFamily="34" charset="-120"/>
              </a:rPr>
              <a:t>Using structures and arrays</a:t>
            </a:r>
          </a:p>
          <a:p>
            <a:pPr>
              <a:spcAft>
                <a:spcPts val="900"/>
              </a:spcAft>
              <a:buSzPct val="100000"/>
            </a:pPr>
            <a:endParaRPr lang="en-US" sz="1350" dirty="0"/>
          </a:p>
          <a:p>
            <a:pPr marL="228600" indent="-228600">
              <a:spcAft>
                <a:spcPts val="900"/>
              </a:spcAft>
              <a:buSzPct val="100000"/>
              <a:buChar char="●"/>
            </a:pPr>
            <a:r>
              <a:rPr lang="en-US" sz="1350" dirty="0">
                <a:solidFill>
                  <a:srgbClr val="2B3238"/>
                </a:solidFill>
                <a:latin typeface="Calibri" pitchFamily="34" charset="0"/>
                <a:ea typeface="Calibri" pitchFamily="34" charset="-122"/>
                <a:cs typeface="Calibri" pitchFamily="34" charset="-120"/>
              </a:rPr>
              <a:t>Binary file handling</a:t>
            </a:r>
          </a:p>
          <a:p>
            <a:pPr>
              <a:spcAft>
                <a:spcPts val="900"/>
              </a:spcAft>
              <a:buSzPct val="100000"/>
            </a:pPr>
            <a:endParaRPr lang="en-US" sz="1350" dirty="0"/>
          </a:p>
          <a:p>
            <a:pPr marL="228600" indent="-228600">
              <a:spcAft>
                <a:spcPts val="900"/>
              </a:spcAft>
              <a:buSzPct val="100000"/>
              <a:buChar char="●"/>
            </a:pPr>
            <a:r>
              <a:rPr lang="en-US" sz="1350" dirty="0">
                <a:solidFill>
                  <a:srgbClr val="2B3238"/>
                </a:solidFill>
                <a:latin typeface="Calibri" pitchFamily="34" charset="0"/>
                <a:ea typeface="Calibri" pitchFamily="34" charset="-122"/>
                <a:cs typeface="Calibri" pitchFamily="34" charset="-120"/>
              </a:rPr>
              <a:t>Menu-driven programming</a:t>
            </a:r>
          </a:p>
          <a:p>
            <a:pPr>
              <a:spcAft>
                <a:spcPts val="900"/>
              </a:spcAft>
              <a:buSzPct val="100000"/>
            </a:pPr>
            <a:endParaRPr lang="en-US" sz="1350" dirty="0"/>
          </a:p>
          <a:p>
            <a:pPr marL="228600" indent="-228600">
              <a:spcAft>
                <a:spcPts val="900"/>
              </a:spcAft>
              <a:buSzPct val="100000"/>
              <a:buChar char="●"/>
            </a:pPr>
            <a:r>
              <a:rPr lang="en-US" sz="1350" dirty="0">
                <a:solidFill>
                  <a:srgbClr val="2B3238"/>
                </a:solidFill>
                <a:latin typeface="Calibri" pitchFamily="34" charset="0"/>
                <a:ea typeface="Calibri" pitchFamily="34" charset="-122"/>
                <a:cs typeface="Calibri" pitchFamily="34" charset="-120"/>
              </a:rPr>
              <a:t>Debugging and testing</a:t>
            </a:r>
          </a:p>
          <a:p>
            <a:pPr>
              <a:spcAft>
                <a:spcPts val="900"/>
              </a:spcAft>
              <a:buSzPct val="100000"/>
            </a:pPr>
            <a:endParaRPr lang="en-US" sz="1350" dirty="0"/>
          </a:p>
          <a:p>
            <a:pPr marL="228600" indent="-228600">
              <a:spcAft>
                <a:spcPts val="900"/>
              </a:spcAft>
              <a:buSzPct val="100000"/>
              <a:buChar char="●"/>
            </a:pPr>
            <a:r>
              <a:rPr lang="en-US" sz="1350" dirty="0">
                <a:solidFill>
                  <a:srgbClr val="2B3238"/>
                </a:solidFill>
                <a:latin typeface="Calibri" pitchFamily="34" charset="0"/>
                <a:ea typeface="Calibri" pitchFamily="34" charset="-122"/>
                <a:cs typeface="Calibri" pitchFamily="34" charset="-120"/>
              </a:rPr>
              <a:t>Logical thinking and problem-solving</a:t>
            </a:r>
            <a:endParaRPr lang="en-US" sz="1350" dirty="0"/>
          </a:p>
        </p:txBody>
      </p:sp>
      <p:sp>
        <p:nvSpPr>
          <p:cNvPr id="7" name="Shape 5"/>
          <p:cNvSpPr/>
          <p:nvPr/>
        </p:nvSpPr>
        <p:spPr>
          <a:xfrm>
            <a:off x="6263640" y="1234440"/>
            <a:ext cx="5394960" cy="4480560"/>
          </a:xfrm>
          <a:prstGeom prst="rect">
            <a:avLst/>
          </a:prstGeom>
          <a:solidFill>
            <a:srgbClr val="16324A"/>
          </a:solidFill>
          <a:ln/>
        </p:spPr>
        <p:txBody>
          <a:bodyPr/>
          <a:lstStyle/>
          <a:p>
            <a:endParaRPr lang="en-IN"/>
          </a:p>
        </p:txBody>
      </p:sp>
      <p:sp>
        <p:nvSpPr>
          <p:cNvPr id="8" name="Text 6"/>
          <p:cNvSpPr/>
          <p:nvPr/>
        </p:nvSpPr>
        <p:spPr>
          <a:xfrm>
            <a:off x="6537960" y="1417320"/>
            <a:ext cx="4846320" cy="36576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Future Scope</a:t>
            </a:r>
            <a:endParaRPr lang="en-US" sz="1700" dirty="0"/>
          </a:p>
        </p:txBody>
      </p:sp>
      <p:sp>
        <p:nvSpPr>
          <p:cNvPr id="9" name="Text 7"/>
          <p:cNvSpPr/>
          <p:nvPr/>
        </p:nvSpPr>
        <p:spPr>
          <a:xfrm>
            <a:off x="6537960" y="1783080"/>
            <a:ext cx="4846320" cy="274320"/>
          </a:xfrm>
          <a:prstGeom prst="rect">
            <a:avLst/>
          </a:prstGeom>
          <a:noFill/>
          <a:ln/>
        </p:spPr>
        <p:txBody>
          <a:bodyPr wrap="square" rtlCol="0" anchor="ctr"/>
          <a:lstStyle/>
          <a:p>
            <a:pPr marL="0" indent="0">
              <a:buNone/>
            </a:pPr>
            <a:r>
              <a:rPr lang="en-US" sz="1200" i="1" dirty="0">
                <a:solidFill>
                  <a:srgbClr val="4FA3D1"/>
                </a:solidFill>
                <a:latin typeface="Calibri" pitchFamily="34" charset="0"/>
                <a:ea typeface="Calibri" pitchFamily="34" charset="-122"/>
                <a:cs typeface="Calibri" pitchFamily="34" charset="-120"/>
              </a:rPr>
              <a:t>Possible future improvements:</a:t>
            </a:r>
            <a:endParaRPr lang="en-US" sz="1200" dirty="0"/>
          </a:p>
        </p:txBody>
      </p:sp>
      <p:sp>
        <p:nvSpPr>
          <p:cNvPr id="10" name="Shape 8"/>
          <p:cNvSpPr/>
          <p:nvPr/>
        </p:nvSpPr>
        <p:spPr>
          <a:xfrm>
            <a:off x="6537960" y="2194560"/>
            <a:ext cx="457200" cy="457200"/>
          </a:xfrm>
          <a:prstGeom prst="ellipse">
            <a:avLst/>
          </a:prstGeom>
          <a:solidFill>
            <a:srgbClr val="2E6E9E"/>
          </a:solidFill>
          <a:ln/>
        </p:spPr>
        <p:txBody>
          <a:bodyPr/>
          <a:lstStyle/>
          <a:p>
            <a:endParaRPr lang="en-IN"/>
          </a:p>
        </p:txBody>
      </p:sp>
      <p:pic>
        <p:nvPicPr>
          <p:cNvPr id="11" name="Image 0" descr="preencoded.png"/>
          <p:cNvPicPr>
            <a:picLocks noChangeAspect="1"/>
          </p:cNvPicPr>
          <p:nvPr/>
        </p:nvPicPr>
        <p:blipFill>
          <a:blip r:embed="rId3"/>
          <a:stretch>
            <a:fillRect/>
          </a:stretch>
        </p:blipFill>
        <p:spPr>
          <a:xfrm>
            <a:off x="6640830" y="2297430"/>
            <a:ext cx="251460" cy="251460"/>
          </a:xfrm>
          <a:prstGeom prst="rect">
            <a:avLst/>
          </a:prstGeom>
        </p:spPr>
      </p:pic>
      <p:sp>
        <p:nvSpPr>
          <p:cNvPr id="12" name="Text 9"/>
          <p:cNvSpPr/>
          <p:nvPr/>
        </p:nvSpPr>
        <p:spPr>
          <a:xfrm>
            <a:off x="7132320" y="2194560"/>
            <a:ext cx="3657600" cy="4572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Admin Login</a:t>
            </a:r>
            <a:endParaRPr lang="en-US" sz="1400" dirty="0"/>
          </a:p>
        </p:txBody>
      </p:sp>
      <p:sp>
        <p:nvSpPr>
          <p:cNvPr id="13" name="Shape 10"/>
          <p:cNvSpPr/>
          <p:nvPr/>
        </p:nvSpPr>
        <p:spPr>
          <a:xfrm>
            <a:off x="6537960" y="2816352"/>
            <a:ext cx="457200" cy="457200"/>
          </a:xfrm>
          <a:prstGeom prst="ellipse">
            <a:avLst/>
          </a:prstGeom>
          <a:solidFill>
            <a:srgbClr val="2E6E9E"/>
          </a:solidFill>
          <a:ln/>
        </p:spPr>
        <p:txBody>
          <a:bodyPr/>
          <a:lstStyle/>
          <a:p>
            <a:endParaRPr lang="en-IN"/>
          </a:p>
        </p:txBody>
      </p:sp>
      <p:pic>
        <p:nvPicPr>
          <p:cNvPr id="14" name="Image 1" descr="preencoded.png"/>
          <p:cNvPicPr>
            <a:picLocks noChangeAspect="1"/>
          </p:cNvPicPr>
          <p:nvPr/>
        </p:nvPicPr>
        <p:blipFill>
          <a:blip r:embed="rId4"/>
          <a:stretch>
            <a:fillRect/>
          </a:stretch>
        </p:blipFill>
        <p:spPr>
          <a:xfrm>
            <a:off x="6640830" y="2919222"/>
            <a:ext cx="251460" cy="251460"/>
          </a:xfrm>
          <a:prstGeom prst="rect">
            <a:avLst/>
          </a:prstGeom>
        </p:spPr>
      </p:pic>
      <p:sp>
        <p:nvSpPr>
          <p:cNvPr id="15" name="Text 11"/>
          <p:cNvSpPr/>
          <p:nvPr/>
        </p:nvSpPr>
        <p:spPr>
          <a:xfrm>
            <a:off x="7132320" y="2816352"/>
            <a:ext cx="3657600" cy="4572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Transaction History</a:t>
            </a:r>
            <a:endParaRPr lang="en-US" sz="1400" dirty="0"/>
          </a:p>
        </p:txBody>
      </p:sp>
      <p:sp>
        <p:nvSpPr>
          <p:cNvPr id="16" name="Shape 12"/>
          <p:cNvSpPr/>
          <p:nvPr/>
        </p:nvSpPr>
        <p:spPr>
          <a:xfrm>
            <a:off x="6537960" y="3438144"/>
            <a:ext cx="457200" cy="457200"/>
          </a:xfrm>
          <a:prstGeom prst="ellipse">
            <a:avLst/>
          </a:prstGeom>
          <a:solidFill>
            <a:srgbClr val="2E6E9E"/>
          </a:solidFill>
          <a:ln/>
        </p:spPr>
        <p:txBody>
          <a:bodyPr/>
          <a:lstStyle/>
          <a:p>
            <a:endParaRPr lang="en-IN"/>
          </a:p>
        </p:txBody>
      </p:sp>
      <p:pic>
        <p:nvPicPr>
          <p:cNvPr id="17" name="Image 2" descr="preencoded.png"/>
          <p:cNvPicPr>
            <a:picLocks noChangeAspect="1"/>
          </p:cNvPicPr>
          <p:nvPr/>
        </p:nvPicPr>
        <p:blipFill>
          <a:blip r:embed="rId5"/>
          <a:stretch>
            <a:fillRect/>
          </a:stretch>
        </p:blipFill>
        <p:spPr>
          <a:xfrm>
            <a:off x="6640830" y="3541014"/>
            <a:ext cx="251460" cy="251460"/>
          </a:xfrm>
          <a:prstGeom prst="rect">
            <a:avLst/>
          </a:prstGeom>
        </p:spPr>
      </p:pic>
      <p:sp>
        <p:nvSpPr>
          <p:cNvPr id="18" name="Text 13"/>
          <p:cNvSpPr/>
          <p:nvPr/>
        </p:nvSpPr>
        <p:spPr>
          <a:xfrm>
            <a:off x="7132320" y="3438144"/>
            <a:ext cx="3657600" cy="4572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Database Integration</a:t>
            </a:r>
            <a:endParaRPr lang="en-US" sz="1400" dirty="0"/>
          </a:p>
        </p:txBody>
      </p:sp>
      <p:sp>
        <p:nvSpPr>
          <p:cNvPr id="19" name="Shape 14"/>
          <p:cNvSpPr/>
          <p:nvPr/>
        </p:nvSpPr>
        <p:spPr>
          <a:xfrm>
            <a:off x="6537960" y="4059936"/>
            <a:ext cx="457200" cy="457200"/>
          </a:xfrm>
          <a:prstGeom prst="ellipse">
            <a:avLst/>
          </a:prstGeom>
          <a:solidFill>
            <a:srgbClr val="2E6E9E"/>
          </a:solidFill>
          <a:ln/>
        </p:spPr>
        <p:txBody>
          <a:bodyPr/>
          <a:lstStyle/>
          <a:p>
            <a:endParaRPr lang="en-IN"/>
          </a:p>
        </p:txBody>
      </p:sp>
      <p:pic>
        <p:nvPicPr>
          <p:cNvPr id="20" name="Image 3" descr="preencoded.png"/>
          <p:cNvPicPr>
            <a:picLocks noChangeAspect="1"/>
          </p:cNvPicPr>
          <p:nvPr/>
        </p:nvPicPr>
        <p:blipFill>
          <a:blip r:embed="rId6"/>
          <a:stretch>
            <a:fillRect/>
          </a:stretch>
        </p:blipFill>
        <p:spPr>
          <a:xfrm>
            <a:off x="6640830" y="4162806"/>
            <a:ext cx="251460" cy="251460"/>
          </a:xfrm>
          <a:prstGeom prst="rect">
            <a:avLst/>
          </a:prstGeom>
        </p:spPr>
      </p:pic>
      <p:sp>
        <p:nvSpPr>
          <p:cNvPr id="21" name="Text 15"/>
          <p:cNvSpPr/>
          <p:nvPr/>
        </p:nvSpPr>
        <p:spPr>
          <a:xfrm>
            <a:off x="7132320" y="4059936"/>
            <a:ext cx="3657600" cy="4572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PIN Encryption</a:t>
            </a:r>
            <a:endParaRPr lang="en-US" sz="1400" dirty="0"/>
          </a:p>
        </p:txBody>
      </p:sp>
      <p:sp>
        <p:nvSpPr>
          <p:cNvPr id="22" name="Shape 16"/>
          <p:cNvSpPr/>
          <p:nvPr/>
        </p:nvSpPr>
        <p:spPr>
          <a:xfrm>
            <a:off x="6537960" y="4681728"/>
            <a:ext cx="457200" cy="457200"/>
          </a:xfrm>
          <a:prstGeom prst="ellipse">
            <a:avLst/>
          </a:prstGeom>
          <a:solidFill>
            <a:srgbClr val="2E6E9E"/>
          </a:solidFill>
          <a:ln/>
        </p:spPr>
        <p:txBody>
          <a:bodyPr/>
          <a:lstStyle/>
          <a:p>
            <a:endParaRPr lang="en-IN"/>
          </a:p>
        </p:txBody>
      </p:sp>
      <p:pic>
        <p:nvPicPr>
          <p:cNvPr id="23" name="Image 4" descr="preencoded.png"/>
          <p:cNvPicPr>
            <a:picLocks noChangeAspect="1"/>
          </p:cNvPicPr>
          <p:nvPr/>
        </p:nvPicPr>
        <p:blipFill>
          <a:blip r:embed="rId7"/>
          <a:stretch>
            <a:fillRect/>
          </a:stretch>
        </p:blipFill>
        <p:spPr>
          <a:xfrm>
            <a:off x="6640830" y="4784598"/>
            <a:ext cx="251460" cy="251460"/>
          </a:xfrm>
          <a:prstGeom prst="rect">
            <a:avLst/>
          </a:prstGeom>
        </p:spPr>
      </p:pic>
      <p:sp>
        <p:nvSpPr>
          <p:cNvPr id="24" name="Text 17"/>
          <p:cNvSpPr/>
          <p:nvPr/>
        </p:nvSpPr>
        <p:spPr>
          <a:xfrm>
            <a:off x="7132320" y="4681728"/>
            <a:ext cx="3657600" cy="4572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GUI Version</a:t>
            </a:r>
            <a:endParaRPr lang="en-US" sz="1400" dirty="0"/>
          </a:p>
        </p:txBody>
      </p:sp>
      <p:sp>
        <p:nvSpPr>
          <p:cNvPr id="25" name="Text 18"/>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7C8A94"/>
                </a:solidFill>
                <a:latin typeface="Calibri" pitchFamily="34" charset="0"/>
                <a:ea typeface="Calibri" pitchFamily="34" charset="-122"/>
                <a:cs typeface="Calibri" pitchFamily="34" charset="-120"/>
              </a:rPr>
              <a:t>ATM Banking System — C Programming Mini Project</a:t>
            </a:r>
            <a:endParaRPr lang="en-US" sz="900" dirty="0"/>
          </a:p>
        </p:txBody>
      </p:sp>
      <p:sp>
        <p:nvSpPr>
          <p:cNvPr id="26" name="Text 19"/>
          <p:cNvSpPr/>
          <p:nvPr/>
        </p:nvSpPr>
        <p:spPr>
          <a:xfrm>
            <a:off x="11274552" y="6510528"/>
            <a:ext cx="457200" cy="274320"/>
          </a:xfrm>
          <a:prstGeom prst="rect">
            <a:avLst/>
          </a:prstGeom>
          <a:noFill/>
          <a:ln/>
        </p:spPr>
        <p:txBody>
          <a:bodyPr wrap="square" rtlCol="0" anchor="ctr"/>
          <a:lstStyle/>
          <a:p>
            <a:pPr marL="0" indent="0" algn="r">
              <a:buNone/>
            </a:pPr>
            <a:r>
              <a:rPr lang="en-US" sz="900" dirty="0">
                <a:solidFill>
                  <a:srgbClr val="7C8A9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324A"/>
        </a:solidFill>
        <a:effectLst/>
      </p:bgPr>
    </p:bg>
    <p:spTree>
      <p:nvGrpSpPr>
        <p:cNvPr id="1" name=""/>
        <p:cNvGrpSpPr/>
        <p:nvPr/>
      </p:nvGrpSpPr>
      <p:grpSpPr>
        <a:xfrm>
          <a:off x="0" y="0"/>
          <a:ext cx="0" cy="0"/>
          <a:chOff x="0" y="0"/>
          <a:chExt cx="0" cy="0"/>
        </a:xfrm>
      </p:grpSpPr>
      <p:sp>
        <p:nvSpPr>
          <p:cNvPr id="2" name="Shape 0"/>
          <p:cNvSpPr/>
          <p:nvPr/>
        </p:nvSpPr>
        <p:spPr>
          <a:xfrm>
            <a:off x="-1371600" y="4297680"/>
            <a:ext cx="3657600" cy="3657600"/>
          </a:xfrm>
          <a:prstGeom prst="ellipse">
            <a:avLst/>
          </a:prstGeom>
          <a:solidFill>
            <a:srgbClr val="2E6E9E">
              <a:alpha val="25000"/>
            </a:srgbClr>
          </a:solidFill>
          <a:ln/>
        </p:spPr>
        <p:txBody>
          <a:bodyPr/>
          <a:lstStyle/>
          <a:p>
            <a:endParaRPr lang="en-IN"/>
          </a:p>
        </p:txBody>
      </p:sp>
      <p:sp>
        <p:nvSpPr>
          <p:cNvPr id="3" name="Shape 1"/>
          <p:cNvSpPr/>
          <p:nvPr/>
        </p:nvSpPr>
        <p:spPr>
          <a:xfrm>
            <a:off x="9875520" y="-1645920"/>
            <a:ext cx="3657600" cy="3657600"/>
          </a:xfrm>
          <a:prstGeom prst="ellipse">
            <a:avLst/>
          </a:prstGeom>
          <a:solidFill>
            <a:srgbClr val="4FA3D1">
              <a:alpha val="22000"/>
            </a:srgbClr>
          </a:solidFill>
          <a:ln/>
        </p:spPr>
        <p:txBody>
          <a:bodyPr/>
          <a:lstStyle/>
          <a:p>
            <a:endParaRPr lang="en-IN"/>
          </a:p>
        </p:txBody>
      </p:sp>
      <p:sp>
        <p:nvSpPr>
          <p:cNvPr id="4" name="Text 2"/>
          <p:cNvSpPr/>
          <p:nvPr/>
        </p:nvSpPr>
        <p:spPr>
          <a:xfrm>
            <a:off x="640080" y="640080"/>
            <a:ext cx="73152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5" name="Shape 3"/>
          <p:cNvSpPr/>
          <p:nvPr/>
        </p:nvSpPr>
        <p:spPr>
          <a:xfrm>
            <a:off x="640080" y="1737360"/>
            <a:ext cx="960120" cy="960120"/>
          </a:xfrm>
          <a:prstGeom prst="ellipse">
            <a:avLst/>
          </a:prstGeom>
          <a:solidFill>
            <a:srgbClr val="2E6E9E"/>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856107" y="1953387"/>
            <a:ext cx="528066" cy="528066"/>
          </a:xfrm>
          <a:prstGeom prst="rect">
            <a:avLst/>
          </a:prstGeom>
        </p:spPr>
      </p:pic>
      <p:sp>
        <p:nvSpPr>
          <p:cNvPr id="7" name="Text 4"/>
          <p:cNvSpPr/>
          <p:nvPr/>
        </p:nvSpPr>
        <p:spPr>
          <a:xfrm>
            <a:off x="1828800" y="1645920"/>
            <a:ext cx="9692640" cy="1554480"/>
          </a:xfrm>
          <a:prstGeom prst="rect">
            <a:avLst/>
          </a:prstGeom>
          <a:noFill/>
          <a:ln/>
        </p:spPr>
        <p:txBody>
          <a:bodyPr wrap="square" rtlCol="0" anchor="t"/>
          <a:lstStyle/>
          <a:p>
            <a:pPr marL="0" indent="0">
              <a:lnSpc>
                <a:spcPct val="130000"/>
              </a:lnSpc>
              <a:buNone/>
            </a:pPr>
            <a:r>
              <a:rPr lang="en-US" sz="1700" dirty="0">
                <a:solidFill>
                  <a:srgbClr val="FFFFFF"/>
                </a:solidFill>
                <a:latin typeface="Calibri" pitchFamily="34" charset="0"/>
                <a:ea typeface="Calibri" pitchFamily="34" charset="-122"/>
                <a:cs typeface="Calibri" pitchFamily="34" charset="-120"/>
              </a:rPr>
              <a:t>This project helped me understand how multiple C programming concepts work together in a real application. It improved my understanding of structures, functions, file handling, and logical programming while developing a simple ATM Banking System.</a:t>
            </a:r>
            <a:endParaRPr lang="en-US" sz="1700" dirty="0"/>
          </a:p>
        </p:txBody>
      </p:sp>
      <p:sp>
        <p:nvSpPr>
          <p:cNvPr id="8" name="Shape 5"/>
          <p:cNvSpPr/>
          <p:nvPr/>
        </p:nvSpPr>
        <p:spPr>
          <a:xfrm>
            <a:off x="640080" y="3520440"/>
            <a:ext cx="10881360" cy="0"/>
          </a:xfrm>
          <a:prstGeom prst="line">
            <a:avLst/>
          </a:prstGeom>
          <a:noFill/>
          <a:ln w="12700">
            <a:solidFill>
              <a:srgbClr val="2E6E9E"/>
            </a:solidFill>
            <a:prstDash val="solid"/>
          </a:ln>
        </p:spPr>
        <p:txBody>
          <a:bodyPr/>
          <a:lstStyle/>
          <a:p>
            <a:endParaRPr lang="en-IN"/>
          </a:p>
        </p:txBody>
      </p:sp>
      <p:sp>
        <p:nvSpPr>
          <p:cNvPr id="9" name="Shape 6"/>
          <p:cNvSpPr/>
          <p:nvPr/>
        </p:nvSpPr>
        <p:spPr>
          <a:xfrm>
            <a:off x="5591556" y="3794760"/>
            <a:ext cx="1005840" cy="1005840"/>
          </a:xfrm>
          <a:prstGeom prst="ellipse">
            <a:avLst/>
          </a:prstGeom>
          <a:solidFill>
            <a:srgbClr val="2E6E9E"/>
          </a:solidFill>
          <a:ln/>
        </p:spPr>
        <p:txBody>
          <a:bodyPr/>
          <a:lstStyle/>
          <a:p>
            <a:endParaRPr lang="en-IN"/>
          </a:p>
        </p:txBody>
      </p:sp>
      <p:pic>
        <p:nvPicPr>
          <p:cNvPr id="10" name="Image 1" descr="preencoded.png"/>
          <p:cNvPicPr>
            <a:picLocks noChangeAspect="1"/>
          </p:cNvPicPr>
          <p:nvPr/>
        </p:nvPicPr>
        <p:blipFill>
          <a:blip r:embed="rId4"/>
          <a:stretch>
            <a:fillRect/>
          </a:stretch>
        </p:blipFill>
        <p:spPr>
          <a:xfrm>
            <a:off x="5817870" y="4021074"/>
            <a:ext cx="553212" cy="553212"/>
          </a:xfrm>
          <a:prstGeom prst="rect">
            <a:avLst/>
          </a:prstGeom>
        </p:spPr>
      </p:pic>
      <p:sp>
        <p:nvSpPr>
          <p:cNvPr id="11" name="Text 7"/>
          <p:cNvSpPr/>
          <p:nvPr/>
        </p:nvSpPr>
        <p:spPr>
          <a:xfrm>
            <a:off x="0" y="4937760"/>
            <a:ext cx="12188952" cy="822960"/>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12" name="Text 8"/>
          <p:cNvSpPr/>
          <p:nvPr/>
        </p:nvSpPr>
        <p:spPr>
          <a:xfrm>
            <a:off x="0" y="5760720"/>
            <a:ext cx="12188952" cy="457200"/>
          </a:xfrm>
          <a:prstGeom prst="rect">
            <a:avLst/>
          </a:prstGeom>
          <a:noFill/>
          <a:ln/>
        </p:spPr>
        <p:txBody>
          <a:bodyPr wrap="square" rtlCol="0" anchor="ctr"/>
          <a:lstStyle/>
          <a:p>
            <a:pPr marL="0" indent="0" algn="ctr">
              <a:buNone/>
            </a:pPr>
            <a:r>
              <a:rPr lang="en-US" sz="1800" dirty="0">
                <a:solidFill>
                  <a:srgbClr val="4FA3D1"/>
                </a:solidFill>
                <a:latin typeface="Calibri" pitchFamily="34" charset="0"/>
                <a:ea typeface="Calibri" pitchFamily="34" charset="-122"/>
                <a:cs typeface="Calibri" pitchFamily="34" charset="-120"/>
              </a:rPr>
              <a:t>Questions?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950</Words>
  <Application>Microsoft Office PowerPoint</Application>
  <PresentationFormat>Widescreen</PresentationFormat>
  <Paragraphs>138</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OP Yash</cp:lastModifiedBy>
  <cp:revision>2</cp:revision>
  <dcterms:created xsi:type="dcterms:W3CDTF">2026-07-19T18:11:59Z</dcterms:created>
  <dcterms:modified xsi:type="dcterms:W3CDTF">2026-07-20T04:19:08Z</dcterms:modified>
</cp:coreProperties>
</file>